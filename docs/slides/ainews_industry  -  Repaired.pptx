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86"/>
    <p:restoredTop sz="81941"/>
  </p:normalViewPr>
  <p:slideViewPr>
    <p:cSldViewPr snapToGrid="0" snapToObjects="1">
      <p:cViewPr varScale="1">
        <p:scale>
          <a:sx n="110" d="100"/>
          <a:sy n="110" d="100"/>
        </p:scale>
        <p:origin x="5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48F3-EC4E-A4B7-37839E0561D9}"/>
              </c:ext>
            </c:extLst>
          </c:dPt>
          <c:dPt>
            <c:idx val="1"/>
            <c:bubble3D val="0"/>
            <c:spPr>
              <a:solidFill>
                <a:srgbClr val="3D5A99"/>
              </a:solidFill>
              <a:effectLst/>
            </c:spPr>
            <c:extLst>
              <c:ext xmlns:c16="http://schemas.microsoft.com/office/drawing/2014/chart" uri="{C3380CC4-5D6E-409C-BE32-E72D297353CC}">
                <c16:uniqueId val="{00000003-48F3-EC4E-A4B7-37839E0561D9}"/>
              </c:ext>
            </c:extLst>
          </c:dPt>
          <c:dPt>
            <c:idx val="2"/>
            <c:bubble3D val="0"/>
            <c:spPr>
              <a:solidFill>
                <a:srgbClr val="F2A93B"/>
              </a:solidFill>
              <a:effectLst/>
            </c:spPr>
            <c:extLst>
              <c:ext xmlns:c16="http://schemas.microsoft.com/office/drawing/2014/chart" uri="{C3380CC4-5D6E-409C-BE32-E72D297353CC}">
                <c16:uniqueId val="{00000005-48F3-EC4E-A4B7-37839E0561D9}"/>
              </c:ext>
            </c:extLst>
          </c:dPt>
          <c:dPt>
            <c:idx val="3"/>
            <c:bubble3D val="0"/>
            <c:spPr>
              <a:solidFill>
                <a:srgbClr val="CADCFC"/>
              </a:solidFill>
              <a:effectLst/>
            </c:spPr>
            <c:extLst>
              <c:ext xmlns:c16="http://schemas.microsoft.com/office/drawing/2014/chart" uri="{C3380CC4-5D6E-409C-BE32-E72D297353CC}">
                <c16:uniqueId val="{00000007-48F3-EC4E-A4B7-37839E0561D9}"/>
              </c:ext>
            </c:extLst>
          </c:dPt>
          <c:cat>
            <c:strRef>
              <c:f>Sheet1!$A$2:$A$5</c:f>
              <c:strCache>
                <c:ptCount val="4"/>
                <c:pt idx="0">
                  <c:v>ChatGPT 46.4%</c:v>
                </c:pt>
                <c:pt idx="1">
                  <c:v>Gemini 27.7%</c:v>
                </c:pt>
                <c:pt idx="2">
                  <c:v>Claude 10.3%</c:v>
                </c:pt>
                <c:pt idx="3">
                  <c:v>Other 15.6%</c:v>
                </c:pt>
              </c:strCache>
            </c:strRef>
          </c:cat>
          <c:val>
            <c:numRef>
              <c:f>Sheet1!$B$2:$B$5</c:f>
              <c:numCache>
                <c:formatCode>General</c:formatCode>
                <c:ptCount val="4"/>
                <c:pt idx="0">
                  <c:v>46.4</c:v>
                </c:pt>
                <c:pt idx="1">
                  <c:v>27.7</c:v>
                </c:pt>
                <c:pt idx="2">
                  <c:v>10.3</c:v>
                </c:pt>
                <c:pt idx="3">
                  <c:v>15.6</c:v>
                </c:pt>
              </c:numCache>
            </c:numRef>
          </c:val>
          <c:extLst>
            <c:ext xmlns:c16="http://schemas.microsoft.com/office/drawing/2014/chart" uri="{C3380CC4-5D6E-409C-BE32-E72D297353CC}">
              <c16:uniqueId val="{00000008-48F3-EC4E-A4B7-37839E0561D9}"/>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solidFill>
                <a:srgbClr val="1E293B"/>
              </a:solidFill>
            </a:defRPr>
          </a:pPr>
          <a:endParaRPr lang="en-US"/>
        </a:p>
      </c:txPr>
    </c:legend>
    <c:plotVisOnly val="1"/>
    <c:dispBlanksAs val="span"/>
    <c:showDLblsOverMax val="1"/>
  </c:chart>
  <c:spPr>
    <a:solidFill>
      <a:srgbClr val="F1F5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0325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t>
            </a:r>
            <a:br>
              <a:rPr lang="en-US" dirty="0"/>
            </a:br>
            <a:br>
              <a:rPr lang="en-US" dirty="0"/>
            </a:br>
            <a:r>
              <a:rPr lang="en-US" dirty="0"/>
              <a:t>A lot did happen since our last meeting two weeks ago. We all know how fast and crazy this AI industry can go. </a:t>
            </a:r>
            <a:br>
              <a:rPr lang="en-US" dirty="0"/>
            </a:br>
            <a:r>
              <a:rPr lang="en-US" dirty="0"/>
              <a:t>Last time we discussed about export ban for “security reason”. </a:t>
            </a:r>
            <a:br>
              <a:rPr lang="en-US" dirty="0"/>
            </a:br>
            <a:r>
              <a:rPr lang="en-US" dirty="0"/>
              <a:t>We also talked about the Mercato in the industry. Mercato, when a player moves from a team to another one.</a:t>
            </a:r>
          </a:p>
          <a:p>
            <a:endParaRPr lang="en-US" dirty="0"/>
          </a:p>
          <a:p>
            <a:r>
              <a:rPr lang="en-US" dirty="0"/>
              <a:t>We did have other news category as well. Claude helped me group them in 6 distinct categories.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Storylines: a geopolitical whiplash story, a stock market wobble, security cutting both ways, Europe quietly slowing down on its own AI law, a talent war like I just mentioned before, and a jobs report making economists nervous.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favorite slide because it reads like a breakup and makeup story. June 20th, the US tells Anthropic to block its own foreign employees from its best models, this is basically an arms control problem now. June 26th, okay fine, some of you can come back, but only a select few. June 30th, never mind, everyone is invited again. Ten days, that is a shorter relationship than most situationships. Quick analysis: when policy reverses that fast, it tells you the rulebook for export controlling AI models did not really exist two weeks ago, and it is being written in real time.</a:t>
            </a:r>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reversal of that export ban, a global stock selloff, and one very famous researcher switching teams. AI has officially entered its soap opera era, and the plot twists are honestly better written than most of what is on TV right now. Let's get into it.</a:t>
            </a:r>
          </a:p>
          <a:p>
            <a:br>
              <a:rPr lang="en-US" dirty="0"/>
            </a:br>
            <a:br>
              <a:rPr lang="en-US" dirty="0"/>
            </a:br>
            <a:r>
              <a:rPr lang="en-US" dirty="0"/>
              <a:t>Before we go slide by slide, here is the trailer. Six storylines:. Keep these six in your head, because by the end you will notice they are actually one story: this industry is moving faster than the regulators, the markets, and honestly the companies themselves can keep up with.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Meanwhile in Brussels, the EU looked at its own AI Act deadline and said, let's push that back sixteen months. If you have ever asked your manager for just a little more time on a deadline, you understand exactly what is happening here. On the other side, the UN dropped its first real AI governance report right before a summit in Geneva. Quick analysis: regulators are not abandoning oversight, they are buying time to figure out what they are actually regulating, which, honestly, is fair given how fast slide three's timeline moved.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treadmill did not stop for anyone's ten-day export drama. Claude Sonnet 5 became the free default, Google shipped two new image models, and Anthropic opened a science grant program. Also, can we talk about naming for a second? Sonnet, Sol, Jalapeño, it is giving 'ran out of serious names and started raiding the spice rack and a poetry class.' Quick take: everyone is racing to be the default, cheapest, most useful model, and pricing is quietly becoming the real battleground here, not benchmarks.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 announced its first custom chip, built with Broadcom, and named it Jalapeño. Bold choice to name your chip after something that burns going in and burns coming out, but sure, I respect the confidence. Jokes aside, this is a real tell: OpenAI joins Google, Amazon and Meta in building its own silicon instead of just renting Nvidia's. When every major lab starts building its own chips, that is not a hobby project, that is a company saying we do not want to just be a customer anymore, we want to own the whole supply chain.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basically AI playing cop and robber in the same week. OpenAI's Daybreak program used a model to audit open source code and found twenty four real Linux kernel bugs plus a critical vulnerability, faster than any human red team could. Great news. Then days later, researchers found 'Agentjacking,' where a fake bug report tricks an AI coding agent into running an attacker's commands. So AI is now good enough to catch security holes, and gullible enough to fall for a fake support ticket. Analysis: the same capability that makes AI a great auditor makes it a great target, that trade-off was never on anyone's roadmap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money, because the market had feelings this fortnight. ChatGPT dropped below fifty percent share for the first time ever, while Gemini and Claude both climbed. Then stocks had a moment: the Nasdaq fell over two percent, South Korea's KOSPI literally halted trading twice, and Oracle logged its worst week since the dot-com bubble popped. Meanwhile OpenAI's IPO might slip to 2027 while Anthropic is still aiming for October. Quick analysis: usage share is fragmenting and investor patience is fraying at the exact same time, and that combination usually means the easy phase of a boom is ending.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very different stories sharing a slide. First, Noam Shazeer, who literally co-wrote the paper that invented the Transformer, the thing every single model on this deck is built on, left Google for OpenAI. That is like the architect who designed the stadium switching teams mid-season. Second, the US jobs report came in ice cold, the weakest since 2024. I am not saying AI ate those jobs, but economists are absolutely going to argue about this one for months, and so will your group chat tonight.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is the fortnight. If anyone wants receipts, doubts a stat, or just wants to fact-check me over drinks later, every single link is right here, no paywalled vibes, just sources. Thanks for sticking with me through ten slides and at least three questionable jokes.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684368" y="1051560"/>
            <a:ext cx="822960" cy="822960"/>
          </a:xfrm>
          <a:prstGeom prst="ellipse">
            <a:avLst/>
          </a:prstGeom>
          <a:solidFill>
            <a:srgbClr val="CADCFC"/>
          </a:solidFill>
          <a:ln/>
        </p:spPr>
        <p:txBody>
          <a:bodyPr/>
          <a:lstStyle/>
          <a:p>
            <a:endParaRPr lang="en-BJ"/>
          </a:p>
        </p:txBody>
      </p:sp>
      <p:pic>
        <p:nvPicPr>
          <p:cNvPr id="3" name="Image 0" descr="preencoded.png"/>
          <p:cNvPicPr>
            <a:picLocks noChangeAspect="1"/>
          </p:cNvPicPr>
          <p:nvPr/>
        </p:nvPicPr>
        <p:blipFill>
          <a:blip r:embed="rId3"/>
          <a:stretch>
            <a:fillRect/>
          </a:stretch>
        </p:blipFill>
        <p:spPr>
          <a:xfrm>
            <a:off x="5799582" y="1166774"/>
            <a:ext cx="592531" cy="592531"/>
          </a:xfrm>
          <a:prstGeom prst="rect">
            <a:avLst/>
          </a:prstGeom>
        </p:spPr>
      </p:pic>
      <p:sp>
        <p:nvSpPr>
          <p:cNvPr id="4" name="Text 1"/>
          <p:cNvSpPr/>
          <p:nvPr/>
        </p:nvSpPr>
        <p:spPr>
          <a:xfrm>
            <a:off x="731520" y="2514600"/>
            <a:ext cx="10728655"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AI INDUSTRY NEWS ROUNDUP</a:t>
            </a:r>
            <a:endParaRPr lang="en-US" sz="4000" dirty="0"/>
          </a:p>
        </p:txBody>
      </p:sp>
      <p:sp>
        <p:nvSpPr>
          <p:cNvPr id="5" name="Text 2"/>
          <p:cNvSpPr/>
          <p:nvPr/>
        </p:nvSpPr>
        <p:spPr>
          <a:xfrm>
            <a:off x="731520" y="3337560"/>
            <a:ext cx="10728655" cy="457200"/>
          </a:xfrm>
          <a:prstGeom prst="rect">
            <a:avLst/>
          </a:prstGeom>
          <a:noFill/>
          <a:ln/>
        </p:spPr>
        <p:txBody>
          <a:bodyPr wrap="square" lIns="0" tIns="0" rIns="0" bIns="0"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June 20 to July 3, 2026</a:t>
            </a:r>
            <a:endParaRPr lang="en-US" sz="2000" dirty="0"/>
          </a:p>
        </p:txBody>
      </p:sp>
      <p:sp>
        <p:nvSpPr>
          <p:cNvPr id="6" name="Text 3"/>
          <p:cNvSpPr/>
          <p:nvPr/>
        </p:nvSpPr>
        <p:spPr>
          <a:xfrm>
            <a:off x="1645920" y="3886200"/>
            <a:ext cx="8899855" cy="457200"/>
          </a:xfrm>
          <a:prstGeom prst="rect">
            <a:avLst/>
          </a:prstGeom>
          <a:noFill/>
          <a:ln/>
        </p:spPr>
        <p:txBody>
          <a:bodyPr wrap="square" lIns="0" tIns="0" rIns="0" bIns="0" rtlCol="0" anchor="ctr"/>
          <a:lstStyle/>
          <a:p>
            <a:pPr marL="0" indent="0" algn="ctr">
              <a:buNone/>
            </a:pPr>
            <a:r>
              <a:rPr lang="en-US" sz="1300" i="1" dirty="0">
                <a:solidFill>
                  <a:srgbClr val="CADCFC"/>
                </a:solidFill>
                <a:latin typeface="Calibri" pitchFamily="34" charset="0"/>
                <a:ea typeface="Calibri" pitchFamily="34" charset="-122"/>
                <a:cs typeface="Calibri" pitchFamily="34" charset="-120"/>
              </a:rPr>
              <a:t>Export controls, market jitters, security and the model race, grouped by theme</a:t>
            </a:r>
            <a:endParaRPr lang="en-US" sz="1300" dirty="0"/>
          </a:p>
        </p:txBody>
      </p:sp>
      <p:sp>
        <p:nvSpPr>
          <p:cNvPr id="7" name="Text 4"/>
          <p:cNvSpPr/>
          <p:nvPr/>
        </p:nvSpPr>
        <p:spPr>
          <a:xfrm>
            <a:off x="731520" y="6172200"/>
            <a:ext cx="10728655" cy="32004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Bolaji BALOGOUN</a:t>
            </a:r>
            <a:endParaRPr lang="en-US" sz="16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TWO WEEKS IN AI</a:t>
            </a:r>
            <a:endParaRPr lang="en-US" sz="13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Six storylines drove the period</a:t>
            </a:r>
            <a:endParaRPr lang="en-US" sz="2800" dirty="0"/>
          </a:p>
        </p:txBody>
      </p:sp>
      <p:sp>
        <p:nvSpPr>
          <p:cNvPr id="4" name="Shape 2"/>
          <p:cNvSpPr/>
          <p:nvPr/>
        </p:nvSpPr>
        <p:spPr>
          <a:xfrm>
            <a:off x="548640" y="1463040"/>
            <a:ext cx="3484778" cy="2308860"/>
          </a:xfrm>
          <a:prstGeom prst="roundRect">
            <a:avLst>
              <a:gd name="adj" fmla="val 3168"/>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5" name="Shape 3"/>
          <p:cNvSpPr/>
          <p:nvPr/>
        </p:nvSpPr>
        <p:spPr>
          <a:xfrm>
            <a:off x="804672" y="1719072"/>
            <a:ext cx="502920" cy="502920"/>
          </a:xfrm>
          <a:prstGeom prst="ellipse">
            <a:avLst/>
          </a:prstGeom>
          <a:solidFill>
            <a:srgbClr val="1E2761"/>
          </a:solidFill>
          <a:ln/>
        </p:spPr>
        <p:txBody>
          <a:bodyPr/>
          <a:lstStyle/>
          <a:p>
            <a:endParaRPr lang="en-BJ"/>
          </a:p>
        </p:txBody>
      </p:sp>
      <p:pic>
        <p:nvPicPr>
          <p:cNvPr id="6" name="Image 0" descr="preencoded.png"/>
          <p:cNvPicPr>
            <a:picLocks noChangeAspect="1"/>
          </p:cNvPicPr>
          <p:nvPr/>
        </p:nvPicPr>
        <p:blipFill>
          <a:blip r:embed="rId3"/>
          <a:stretch>
            <a:fillRect/>
          </a:stretch>
        </p:blipFill>
        <p:spPr>
          <a:xfrm>
            <a:off x="875081" y="1789481"/>
            <a:ext cx="362102" cy="362102"/>
          </a:xfrm>
          <a:prstGeom prst="rect">
            <a:avLst/>
          </a:prstGeom>
        </p:spPr>
      </p:pic>
      <p:sp>
        <p:nvSpPr>
          <p:cNvPr id="7" name="Text 4"/>
          <p:cNvSpPr/>
          <p:nvPr/>
        </p:nvSpPr>
        <p:spPr>
          <a:xfrm>
            <a:off x="804672" y="2331720"/>
            <a:ext cx="2972714" cy="502920"/>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Export control whiplash</a:t>
            </a:r>
            <a:endParaRPr lang="en-US" sz="1450" dirty="0"/>
          </a:p>
        </p:txBody>
      </p:sp>
      <p:sp>
        <p:nvSpPr>
          <p:cNvPr id="8" name="Text 5"/>
          <p:cNvSpPr/>
          <p:nvPr/>
        </p:nvSpPr>
        <p:spPr>
          <a:xfrm>
            <a:off x="804672" y="2834640"/>
            <a:ext cx="2972714" cy="754380"/>
          </a:xfrm>
          <a:prstGeom prst="rect">
            <a:avLst/>
          </a:prstGeom>
          <a:noFill/>
          <a:ln/>
        </p:spPr>
        <p:txBody>
          <a:bodyPr wrap="square" lIns="0" tIns="0" rIns="0" bIns="0" rtlCol="0" anchor="t"/>
          <a:lstStyle/>
          <a:p>
            <a:pPr marL="0" indent="0">
              <a:lnSpc>
                <a:spcPct val="110000"/>
              </a:lnSpc>
              <a:buNone/>
            </a:pPr>
            <a:r>
              <a:rPr lang="en-US" sz="1100" dirty="0">
                <a:solidFill>
                  <a:srgbClr val="1E293B"/>
                </a:solidFill>
                <a:latin typeface="Calibri" pitchFamily="34" charset="0"/>
                <a:ea typeface="Calibri" pitchFamily="34" charset="-122"/>
                <a:cs typeface="Calibri" pitchFamily="34" charset="-120"/>
              </a:rPr>
              <a:t>Anthropic's top models were banned, then partially eased, then fully restored, all within 10 days.</a:t>
            </a:r>
            <a:endParaRPr lang="en-US" sz="1100" dirty="0"/>
          </a:p>
        </p:txBody>
      </p:sp>
      <p:sp>
        <p:nvSpPr>
          <p:cNvPr id="9" name="Shape 6"/>
          <p:cNvSpPr/>
          <p:nvPr/>
        </p:nvSpPr>
        <p:spPr>
          <a:xfrm>
            <a:off x="4353458" y="1463040"/>
            <a:ext cx="3484778" cy="2308860"/>
          </a:xfrm>
          <a:prstGeom prst="roundRect">
            <a:avLst>
              <a:gd name="adj" fmla="val 3168"/>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10" name="Shape 7"/>
          <p:cNvSpPr/>
          <p:nvPr/>
        </p:nvSpPr>
        <p:spPr>
          <a:xfrm>
            <a:off x="4609490" y="1719072"/>
            <a:ext cx="502920" cy="502920"/>
          </a:xfrm>
          <a:prstGeom prst="ellipse">
            <a:avLst/>
          </a:prstGeom>
          <a:solidFill>
            <a:srgbClr val="1E2761"/>
          </a:solidFill>
          <a:ln/>
        </p:spPr>
        <p:txBody>
          <a:bodyPr/>
          <a:lstStyle/>
          <a:p>
            <a:endParaRPr lang="en-BJ"/>
          </a:p>
        </p:txBody>
      </p:sp>
      <p:pic>
        <p:nvPicPr>
          <p:cNvPr id="11" name="Image 1" descr="preencoded.png"/>
          <p:cNvPicPr>
            <a:picLocks noChangeAspect="1"/>
          </p:cNvPicPr>
          <p:nvPr/>
        </p:nvPicPr>
        <p:blipFill>
          <a:blip r:embed="rId4"/>
          <a:stretch>
            <a:fillRect/>
          </a:stretch>
        </p:blipFill>
        <p:spPr>
          <a:xfrm>
            <a:off x="4679899" y="1789481"/>
            <a:ext cx="362102" cy="362102"/>
          </a:xfrm>
          <a:prstGeom prst="rect">
            <a:avLst/>
          </a:prstGeom>
        </p:spPr>
      </p:pic>
      <p:sp>
        <p:nvSpPr>
          <p:cNvPr id="12" name="Text 8"/>
          <p:cNvSpPr/>
          <p:nvPr/>
        </p:nvSpPr>
        <p:spPr>
          <a:xfrm>
            <a:off x="4609490" y="2331720"/>
            <a:ext cx="2972714" cy="502920"/>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AI stocks wobble</a:t>
            </a:r>
            <a:endParaRPr lang="en-US" sz="1450" dirty="0"/>
          </a:p>
        </p:txBody>
      </p:sp>
      <p:sp>
        <p:nvSpPr>
          <p:cNvPr id="13" name="Text 9"/>
          <p:cNvSpPr/>
          <p:nvPr/>
        </p:nvSpPr>
        <p:spPr>
          <a:xfrm>
            <a:off x="4609490" y="2834640"/>
            <a:ext cx="2972714" cy="754380"/>
          </a:xfrm>
          <a:prstGeom prst="rect">
            <a:avLst/>
          </a:prstGeom>
          <a:noFill/>
          <a:ln/>
        </p:spPr>
        <p:txBody>
          <a:bodyPr wrap="square" lIns="0" tIns="0" rIns="0" bIns="0" rtlCol="0" anchor="t"/>
          <a:lstStyle/>
          <a:p>
            <a:pPr marL="0" indent="0">
              <a:lnSpc>
                <a:spcPct val="110000"/>
              </a:lnSpc>
              <a:buNone/>
            </a:pPr>
            <a:r>
              <a:rPr lang="en-US" sz="1100" dirty="0">
                <a:solidFill>
                  <a:srgbClr val="1E293B"/>
                </a:solidFill>
                <a:latin typeface="Calibri" pitchFamily="34" charset="0"/>
                <a:ea typeface="Calibri" pitchFamily="34" charset="-122"/>
                <a:cs typeface="Calibri" pitchFamily="34" charset="-120"/>
              </a:rPr>
              <a:t>Bubble fears triggered a global tech selloff; Oracle had its worst week since the dot-com crash.</a:t>
            </a:r>
            <a:endParaRPr lang="en-US" sz="1100" dirty="0"/>
          </a:p>
        </p:txBody>
      </p:sp>
      <p:sp>
        <p:nvSpPr>
          <p:cNvPr id="14" name="Shape 10"/>
          <p:cNvSpPr/>
          <p:nvPr/>
        </p:nvSpPr>
        <p:spPr>
          <a:xfrm>
            <a:off x="8158277" y="1463040"/>
            <a:ext cx="3484778" cy="2308860"/>
          </a:xfrm>
          <a:prstGeom prst="roundRect">
            <a:avLst>
              <a:gd name="adj" fmla="val 3168"/>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15" name="Shape 11"/>
          <p:cNvSpPr/>
          <p:nvPr/>
        </p:nvSpPr>
        <p:spPr>
          <a:xfrm>
            <a:off x="8414309" y="1719072"/>
            <a:ext cx="502920" cy="502920"/>
          </a:xfrm>
          <a:prstGeom prst="ellipse">
            <a:avLst/>
          </a:prstGeom>
          <a:solidFill>
            <a:srgbClr val="1E2761"/>
          </a:solidFill>
          <a:ln/>
        </p:spPr>
        <p:txBody>
          <a:bodyPr/>
          <a:lstStyle/>
          <a:p>
            <a:endParaRPr lang="en-BJ"/>
          </a:p>
        </p:txBody>
      </p:sp>
      <p:pic>
        <p:nvPicPr>
          <p:cNvPr id="16" name="Image 2" descr="preencoded.png"/>
          <p:cNvPicPr>
            <a:picLocks noChangeAspect="1"/>
          </p:cNvPicPr>
          <p:nvPr/>
        </p:nvPicPr>
        <p:blipFill>
          <a:blip r:embed="rId5"/>
          <a:stretch>
            <a:fillRect/>
          </a:stretch>
        </p:blipFill>
        <p:spPr>
          <a:xfrm>
            <a:off x="8484718" y="1789481"/>
            <a:ext cx="362102" cy="362102"/>
          </a:xfrm>
          <a:prstGeom prst="rect">
            <a:avLst/>
          </a:prstGeom>
        </p:spPr>
      </p:pic>
      <p:sp>
        <p:nvSpPr>
          <p:cNvPr id="17" name="Text 12"/>
          <p:cNvSpPr/>
          <p:nvPr/>
        </p:nvSpPr>
        <p:spPr>
          <a:xfrm>
            <a:off x="8414309" y="2331720"/>
            <a:ext cx="2972714" cy="502920"/>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Security cuts both ways</a:t>
            </a:r>
            <a:endParaRPr lang="en-US" sz="1450" dirty="0"/>
          </a:p>
        </p:txBody>
      </p:sp>
      <p:sp>
        <p:nvSpPr>
          <p:cNvPr id="18" name="Text 13"/>
          <p:cNvSpPr/>
          <p:nvPr/>
        </p:nvSpPr>
        <p:spPr>
          <a:xfrm>
            <a:off x="8414309" y="2834640"/>
            <a:ext cx="2972714" cy="754380"/>
          </a:xfrm>
          <a:prstGeom prst="rect">
            <a:avLst/>
          </a:prstGeom>
          <a:noFill/>
          <a:ln/>
        </p:spPr>
        <p:txBody>
          <a:bodyPr wrap="square" lIns="0" tIns="0" rIns="0" bIns="0" rtlCol="0" anchor="t"/>
          <a:lstStyle/>
          <a:p>
            <a:pPr marL="0" indent="0">
              <a:lnSpc>
                <a:spcPct val="110000"/>
              </a:lnSpc>
              <a:buNone/>
            </a:pPr>
            <a:r>
              <a:rPr lang="en-US" sz="1100" dirty="0">
                <a:solidFill>
                  <a:srgbClr val="1E293B"/>
                </a:solidFill>
                <a:latin typeface="Calibri" pitchFamily="34" charset="0"/>
                <a:ea typeface="Calibri" pitchFamily="34" charset="-122"/>
                <a:cs typeface="Calibri" pitchFamily="34" charset="-120"/>
              </a:rPr>
              <a:t>AI found real kernel bugs, while a new attack class targeted AI coding agents themselves.</a:t>
            </a:r>
            <a:endParaRPr lang="en-US" sz="1100" dirty="0"/>
          </a:p>
        </p:txBody>
      </p:sp>
      <p:sp>
        <p:nvSpPr>
          <p:cNvPr id="19" name="Shape 14"/>
          <p:cNvSpPr/>
          <p:nvPr/>
        </p:nvSpPr>
        <p:spPr>
          <a:xfrm>
            <a:off x="548640" y="4091940"/>
            <a:ext cx="3484778" cy="2308860"/>
          </a:xfrm>
          <a:prstGeom prst="roundRect">
            <a:avLst>
              <a:gd name="adj" fmla="val 3168"/>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20" name="Shape 15"/>
          <p:cNvSpPr/>
          <p:nvPr/>
        </p:nvSpPr>
        <p:spPr>
          <a:xfrm>
            <a:off x="804672" y="4347972"/>
            <a:ext cx="502920" cy="502920"/>
          </a:xfrm>
          <a:prstGeom prst="ellipse">
            <a:avLst/>
          </a:prstGeom>
          <a:solidFill>
            <a:srgbClr val="1E2761"/>
          </a:solidFill>
          <a:ln/>
        </p:spPr>
        <p:txBody>
          <a:bodyPr/>
          <a:lstStyle/>
          <a:p>
            <a:endParaRPr lang="en-BJ"/>
          </a:p>
        </p:txBody>
      </p:sp>
      <p:pic>
        <p:nvPicPr>
          <p:cNvPr id="21" name="Image 3" descr="preencoded.png"/>
          <p:cNvPicPr>
            <a:picLocks noChangeAspect="1"/>
          </p:cNvPicPr>
          <p:nvPr/>
        </p:nvPicPr>
        <p:blipFill>
          <a:blip r:embed="rId6"/>
          <a:stretch>
            <a:fillRect/>
          </a:stretch>
        </p:blipFill>
        <p:spPr>
          <a:xfrm>
            <a:off x="875081" y="4418381"/>
            <a:ext cx="362102" cy="362102"/>
          </a:xfrm>
          <a:prstGeom prst="rect">
            <a:avLst/>
          </a:prstGeom>
        </p:spPr>
      </p:pic>
      <p:sp>
        <p:nvSpPr>
          <p:cNvPr id="22" name="Text 16"/>
          <p:cNvSpPr/>
          <p:nvPr/>
        </p:nvSpPr>
        <p:spPr>
          <a:xfrm>
            <a:off x="804672" y="4960620"/>
            <a:ext cx="2972714" cy="502920"/>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EU softens the AI Act</a:t>
            </a:r>
            <a:endParaRPr lang="en-US" sz="1450" dirty="0"/>
          </a:p>
        </p:txBody>
      </p:sp>
      <p:sp>
        <p:nvSpPr>
          <p:cNvPr id="23" name="Text 17"/>
          <p:cNvSpPr/>
          <p:nvPr/>
        </p:nvSpPr>
        <p:spPr>
          <a:xfrm>
            <a:off x="804672" y="5463540"/>
            <a:ext cx="2972714" cy="754380"/>
          </a:xfrm>
          <a:prstGeom prst="rect">
            <a:avLst/>
          </a:prstGeom>
          <a:noFill/>
          <a:ln/>
        </p:spPr>
        <p:txBody>
          <a:bodyPr wrap="square" lIns="0" tIns="0" rIns="0" bIns="0" rtlCol="0" anchor="t"/>
          <a:lstStyle/>
          <a:p>
            <a:pPr marL="0" indent="0">
              <a:lnSpc>
                <a:spcPct val="110000"/>
              </a:lnSpc>
              <a:buNone/>
            </a:pPr>
            <a:r>
              <a:rPr lang="en-US" sz="1100" dirty="0">
                <a:solidFill>
                  <a:srgbClr val="1E293B"/>
                </a:solidFill>
                <a:latin typeface="Calibri" pitchFamily="34" charset="0"/>
                <a:ea typeface="Calibri" pitchFamily="34" charset="-122"/>
                <a:cs typeface="Calibri" pitchFamily="34" charset="-120"/>
              </a:rPr>
              <a:t>High-risk obligations pushed back 16 months to December 2027 under a simplification deal.</a:t>
            </a:r>
            <a:endParaRPr lang="en-US" sz="1100" dirty="0"/>
          </a:p>
        </p:txBody>
      </p:sp>
      <p:sp>
        <p:nvSpPr>
          <p:cNvPr id="24" name="Shape 18"/>
          <p:cNvSpPr/>
          <p:nvPr/>
        </p:nvSpPr>
        <p:spPr>
          <a:xfrm>
            <a:off x="4353458" y="4091940"/>
            <a:ext cx="3484778" cy="2308860"/>
          </a:xfrm>
          <a:prstGeom prst="roundRect">
            <a:avLst>
              <a:gd name="adj" fmla="val 3168"/>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25" name="Shape 19"/>
          <p:cNvSpPr/>
          <p:nvPr/>
        </p:nvSpPr>
        <p:spPr>
          <a:xfrm>
            <a:off x="4609490" y="4347972"/>
            <a:ext cx="502920" cy="502920"/>
          </a:xfrm>
          <a:prstGeom prst="ellipse">
            <a:avLst/>
          </a:prstGeom>
          <a:solidFill>
            <a:srgbClr val="1E2761"/>
          </a:solidFill>
          <a:ln/>
        </p:spPr>
        <p:txBody>
          <a:bodyPr/>
          <a:lstStyle/>
          <a:p>
            <a:endParaRPr lang="en-BJ"/>
          </a:p>
        </p:txBody>
      </p:sp>
      <p:pic>
        <p:nvPicPr>
          <p:cNvPr id="26" name="Image 4" descr="preencoded.png"/>
          <p:cNvPicPr>
            <a:picLocks noChangeAspect="1"/>
          </p:cNvPicPr>
          <p:nvPr/>
        </p:nvPicPr>
        <p:blipFill>
          <a:blip r:embed="rId7"/>
          <a:stretch>
            <a:fillRect/>
          </a:stretch>
        </p:blipFill>
        <p:spPr>
          <a:xfrm>
            <a:off x="4679899" y="4418381"/>
            <a:ext cx="362102" cy="362102"/>
          </a:xfrm>
          <a:prstGeom prst="rect">
            <a:avLst/>
          </a:prstGeom>
        </p:spPr>
      </p:pic>
      <p:sp>
        <p:nvSpPr>
          <p:cNvPr id="27" name="Text 20"/>
          <p:cNvSpPr/>
          <p:nvPr/>
        </p:nvSpPr>
        <p:spPr>
          <a:xfrm>
            <a:off x="4609490" y="4960620"/>
            <a:ext cx="2972714" cy="502920"/>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Talent war escalates</a:t>
            </a:r>
            <a:endParaRPr lang="en-US" sz="1450" dirty="0"/>
          </a:p>
        </p:txBody>
      </p:sp>
      <p:sp>
        <p:nvSpPr>
          <p:cNvPr id="28" name="Text 21"/>
          <p:cNvSpPr/>
          <p:nvPr/>
        </p:nvSpPr>
        <p:spPr>
          <a:xfrm>
            <a:off x="4609490" y="5463540"/>
            <a:ext cx="2972714" cy="754380"/>
          </a:xfrm>
          <a:prstGeom prst="rect">
            <a:avLst/>
          </a:prstGeom>
          <a:noFill/>
          <a:ln/>
        </p:spPr>
        <p:txBody>
          <a:bodyPr wrap="square" lIns="0" tIns="0" rIns="0" bIns="0" rtlCol="0" anchor="t"/>
          <a:lstStyle/>
          <a:p>
            <a:pPr marL="0" indent="0">
              <a:lnSpc>
                <a:spcPct val="110000"/>
              </a:lnSpc>
              <a:buNone/>
            </a:pPr>
            <a:r>
              <a:rPr lang="en-US" sz="1100" dirty="0">
                <a:solidFill>
                  <a:srgbClr val="1E293B"/>
                </a:solidFill>
                <a:latin typeface="Calibri" pitchFamily="34" charset="0"/>
                <a:ea typeface="Calibri" pitchFamily="34" charset="-122"/>
                <a:cs typeface="Calibri" pitchFamily="34" charset="-120"/>
              </a:rPr>
              <a:t>A Transformer co-author left Google DeepMind's Gemini team to join OpenAI.</a:t>
            </a:r>
            <a:endParaRPr lang="en-US" sz="1100" dirty="0"/>
          </a:p>
        </p:txBody>
      </p:sp>
      <p:sp>
        <p:nvSpPr>
          <p:cNvPr id="29" name="Shape 22"/>
          <p:cNvSpPr/>
          <p:nvPr/>
        </p:nvSpPr>
        <p:spPr>
          <a:xfrm>
            <a:off x="8158277" y="4091940"/>
            <a:ext cx="3484778" cy="2308860"/>
          </a:xfrm>
          <a:prstGeom prst="roundRect">
            <a:avLst>
              <a:gd name="adj" fmla="val 3168"/>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30" name="Shape 23"/>
          <p:cNvSpPr/>
          <p:nvPr/>
        </p:nvSpPr>
        <p:spPr>
          <a:xfrm>
            <a:off x="8414309" y="4347972"/>
            <a:ext cx="502920" cy="502920"/>
          </a:xfrm>
          <a:prstGeom prst="ellipse">
            <a:avLst/>
          </a:prstGeom>
          <a:solidFill>
            <a:srgbClr val="1E2761"/>
          </a:solidFill>
          <a:ln/>
        </p:spPr>
        <p:txBody>
          <a:bodyPr/>
          <a:lstStyle/>
          <a:p>
            <a:endParaRPr lang="en-BJ"/>
          </a:p>
        </p:txBody>
      </p:sp>
      <p:pic>
        <p:nvPicPr>
          <p:cNvPr id="31" name="Image 5" descr="preencoded.png"/>
          <p:cNvPicPr>
            <a:picLocks noChangeAspect="1"/>
          </p:cNvPicPr>
          <p:nvPr/>
        </p:nvPicPr>
        <p:blipFill>
          <a:blip r:embed="rId8"/>
          <a:stretch>
            <a:fillRect/>
          </a:stretch>
        </p:blipFill>
        <p:spPr>
          <a:xfrm>
            <a:off x="8484718" y="4418381"/>
            <a:ext cx="362102" cy="362102"/>
          </a:xfrm>
          <a:prstGeom prst="rect">
            <a:avLst/>
          </a:prstGeom>
        </p:spPr>
      </p:pic>
      <p:sp>
        <p:nvSpPr>
          <p:cNvPr id="32" name="Text 24"/>
          <p:cNvSpPr/>
          <p:nvPr/>
        </p:nvSpPr>
        <p:spPr>
          <a:xfrm>
            <a:off x="8414309" y="4960620"/>
            <a:ext cx="2972714" cy="502920"/>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Jobs data raises questions</a:t>
            </a:r>
            <a:endParaRPr lang="en-US" sz="1450" dirty="0"/>
          </a:p>
        </p:txBody>
      </p:sp>
      <p:sp>
        <p:nvSpPr>
          <p:cNvPr id="33" name="Text 25"/>
          <p:cNvSpPr/>
          <p:nvPr/>
        </p:nvSpPr>
        <p:spPr>
          <a:xfrm>
            <a:off x="8414309" y="5463540"/>
            <a:ext cx="2972714" cy="754380"/>
          </a:xfrm>
          <a:prstGeom prst="rect">
            <a:avLst/>
          </a:prstGeom>
          <a:noFill/>
          <a:ln/>
        </p:spPr>
        <p:txBody>
          <a:bodyPr wrap="square" lIns="0" tIns="0" rIns="0" bIns="0" rtlCol="0" anchor="t"/>
          <a:lstStyle/>
          <a:p>
            <a:pPr marL="0" indent="0">
              <a:lnSpc>
                <a:spcPct val="110000"/>
              </a:lnSpc>
              <a:buNone/>
            </a:pPr>
            <a:r>
              <a:rPr lang="en-US" sz="1100" dirty="0">
                <a:solidFill>
                  <a:srgbClr val="1E293B"/>
                </a:solidFill>
                <a:latin typeface="Calibri" pitchFamily="34" charset="0"/>
                <a:ea typeface="Calibri" pitchFamily="34" charset="-122"/>
                <a:cs typeface="Calibri" pitchFamily="34" charset="-120"/>
              </a:rPr>
              <a:t>The weakest US payroll report since 2024 fed the debate over AI and automation.</a:t>
            </a:r>
            <a:endParaRPr lang="en-US" sz="1100" dirty="0"/>
          </a:p>
        </p:txBody>
      </p:sp>
      <p:sp>
        <p:nvSpPr>
          <p:cNvPr id="35" name="Text 26"/>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GEOPOLITICS &amp; EXPORT CONTROLS</a:t>
            </a:r>
            <a:endParaRPr lang="en-US" sz="13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Anthropic export-control saga</a:t>
            </a:r>
            <a:endParaRPr lang="en-US" sz="2800" dirty="0"/>
          </a:p>
        </p:txBody>
      </p:sp>
      <p:sp>
        <p:nvSpPr>
          <p:cNvPr id="4" name="Shape 2"/>
          <p:cNvSpPr/>
          <p:nvPr/>
        </p:nvSpPr>
        <p:spPr>
          <a:xfrm>
            <a:off x="1280160" y="3246120"/>
            <a:ext cx="9631375" cy="0"/>
          </a:xfrm>
          <a:prstGeom prst="line">
            <a:avLst/>
          </a:prstGeom>
          <a:noFill/>
          <a:ln w="38100">
            <a:solidFill>
              <a:srgbClr val="CADCFC"/>
            </a:solidFill>
            <a:prstDash val="solid"/>
          </a:ln>
        </p:spPr>
        <p:txBody>
          <a:bodyPr/>
          <a:lstStyle/>
          <a:p>
            <a:endParaRPr lang="en-BJ"/>
          </a:p>
        </p:txBody>
      </p:sp>
      <p:sp>
        <p:nvSpPr>
          <p:cNvPr id="5" name="Shape 3"/>
          <p:cNvSpPr/>
          <p:nvPr/>
        </p:nvSpPr>
        <p:spPr>
          <a:xfrm>
            <a:off x="1600200" y="3017520"/>
            <a:ext cx="457200" cy="457200"/>
          </a:xfrm>
          <a:prstGeom prst="ellipse">
            <a:avLst/>
          </a:prstGeom>
          <a:solidFill>
            <a:srgbClr val="1E2761"/>
          </a:solidFill>
          <a:ln/>
        </p:spPr>
        <p:txBody>
          <a:bodyPr/>
          <a:lstStyle/>
          <a:p>
            <a:endParaRPr lang="en-BJ"/>
          </a:p>
        </p:txBody>
      </p:sp>
      <p:sp>
        <p:nvSpPr>
          <p:cNvPr id="6" name="Text 4"/>
          <p:cNvSpPr/>
          <p:nvPr/>
        </p:nvSpPr>
        <p:spPr>
          <a:xfrm>
            <a:off x="822960" y="2194560"/>
            <a:ext cx="2011680" cy="365760"/>
          </a:xfrm>
          <a:prstGeom prst="rect">
            <a:avLst/>
          </a:prstGeom>
          <a:noFill/>
          <a:ln/>
        </p:spPr>
        <p:txBody>
          <a:bodyPr wrap="square" lIns="0" tIns="0" rIns="0" bIns="0" rtlCol="0" anchor="ctr"/>
          <a:lstStyle/>
          <a:p>
            <a:pPr marL="0" indent="0" algn="ctr">
              <a:buNone/>
            </a:pPr>
            <a:r>
              <a:rPr lang="en-US" sz="1500" b="1" dirty="0">
                <a:solidFill>
                  <a:srgbClr val="F2A93B"/>
                </a:solidFill>
                <a:latin typeface="Calibri" pitchFamily="34" charset="0"/>
                <a:ea typeface="Calibri" pitchFamily="34" charset="-122"/>
                <a:cs typeface="Calibri" pitchFamily="34" charset="-120"/>
              </a:rPr>
              <a:t>June 20</a:t>
            </a:r>
            <a:endParaRPr lang="en-US" sz="1500" dirty="0"/>
          </a:p>
        </p:txBody>
      </p:sp>
      <p:sp>
        <p:nvSpPr>
          <p:cNvPr id="7" name="Shape 5"/>
          <p:cNvSpPr/>
          <p:nvPr/>
        </p:nvSpPr>
        <p:spPr>
          <a:xfrm>
            <a:off x="228600" y="3657600"/>
            <a:ext cx="3200400" cy="2057400"/>
          </a:xfrm>
          <a:prstGeom prst="roundRect">
            <a:avLst>
              <a:gd name="adj" fmla="val 3556"/>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8" name="Text 6"/>
          <p:cNvSpPr/>
          <p:nvPr/>
        </p:nvSpPr>
        <p:spPr>
          <a:xfrm>
            <a:off x="411480" y="3822192"/>
            <a:ext cx="2834640" cy="548640"/>
          </a:xfrm>
          <a:prstGeom prst="rect">
            <a:avLst/>
          </a:prstGeom>
          <a:noFill/>
          <a:ln/>
        </p:spPr>
        <p:txBody>
          <a:bodyPr wrap="square" lIns="0" tIns="0" rIns="0" bIns="0" rtlCol="0" anchor="t"/>
          <a:lstStyle/>
          <a:p>
            <a:pPr marL="0" indent="0" algn="ctr">
              <a:buNone/>
            </a:pPr>
            <a:r>
              <a:rPr lang="en-US" sz="1350" b="1" dirty="0">
                <a:solidFill>
                  <a:srgbClr val="1E2761"/>
                </a:solidFill>
                <a:latin typeface="Calibri" pitchFamily="34" charset="0"/>
                <a:ea typeface="Calibri" pitchFamily="34" charset="-122"/>
                <a:cs typeface="Calibri" pitchFamily="34" charset="-120"/>
              </a:rPr>
              <a:t>US blocks Fable 5 and Mythos 5</a:t>
            </a:r>
            <a:endParaRPr lang="en-US" sz="1350" dirty="0"/>
          </a:p>
        </p:txBody>
      </p:sp>
      <p:sp>
        <p:nvSpPr>
          <p:cNvPr id="9" name="Text 7"/>
          <p:cNvSpPr/>
          <p:nvPr/>
        </p:nvSpPr>
        <p:spPr>
          <a:xfrm>
            <a:off x="411480" y="4343400"/>
            <a:ext cx="2834640" cy="1234440"/>
          </a:xfrm>
          <a:prstGeom prst="rect">
            <a:avLst/>
          </a:prstGeom>
          <a:noFill/>
          <a:ln/>
        </p:spPr>
        <p:txBody>
          <a:bodyPr wrap="square" lIns="0" tIns="0" rIns="0" bIns="0" rtlCol="0" anchor="t"/>
          <a:lstStyle/>
          <a:p>
            <a:pPr marL="0" indent="0" algn="ctr">
              <a:lnSpc>
                <a:spcPct val="115000"/>
              </a:lnSpc>
              <a:buNone/>
            </a:pPr>
            <a:r>
              <a:rPr lang="en-US" sz="1050" dirty="0">
                <a:solidFill>
                  <a:srgbClr val="1E293B"/>
                </a:solidFill>
                <a:latin typeface="Calibri" pitchFamily="34" charset="0"/>
                <a:ea typeface="Calibri" pitchFamily="34" charset="-122"/>
                <a:cs typeface="Calibri" pitchFamily="34" charset="-120"/>
              </a:rPr>
              <a:t>An export-control directive forces Anthropic to cut off foreign nationals, including its own foreign employees. The Economist frames it as AI models now being treated like weapons systems.</a:t>
            </a:r>
            <a:endParaRPr lang="en-US" sz="1050" dirty="0"/>
          </a:p>
        </p:txBody>
      </p:sp>
      <p:sp>
        <p:nvSpPr>
          <p:cNvPr id="10" name="Shape 8"/>
          <p:cNvSpPr/>
          <p:nvPr/>
        </p:nvSpPr>
        <p:spPr>
          <a:xfrm>
            <a:off x="5867248" y="3017520"/>
            <a:ext cx="457200" cy="457200"/>
          </a:xfrm>
          <a:prstGeom prst="ellipse">
            <a:avLst/>
          </a:prstGeom>
          <a:solidFill>
            <a:srgbClr val="1E2761"/>
          </a:solidFill>
          <a:ln/>
        </p:spPr>
        <p:txBody>
          <a:bodyPr/>
          <a:lstStyle/>
          <a:p>
            <a:endParaRPr lang="en-BJ"/>
          </a:p>
        </p:txBody>
      </p:sp>
      <p:sp>
        <p:nvSpPr>
          <p:cNvPr id="11" name="Text 9"/>
          <p:cNvSpPr/>
          <p:nvPr/>
        </p:nvSpPr>
        <p:spPr>
          <a:xfrm>
            <a:off x="5090008" y="2194560"/>
            <a:ext cx="2011680" cy="365760"/>
          </a:xfrm>
          <a:prstGeom prst="rect">
            <a:avLst/>
          </a:prstGeom>
          <a:noFill/>
          <a:ln/>
        </p:spPr>
        <p:txBody>
          <a:bodyPr wrap="square" lIns="0" tIns="0" rIns="0" bIns="0" rtlCol="0" anchor="ctr"/>
          <a:lstStyle/>
          <a:p>
            <a:pPr marL="0" indent="0" algn="ctr">
              <a:buNone/>
            </a:pPr>
            <a:r>
              <a:rPr lang="en-US" sz="1500" b="1" dirty="0">
                <a:solidFill>
                  <a:srgbClr val="F2A93B"/>
                </a:solidFill>
                <a:latin typeface="Calibri" pitchFamily="34" charset="0"/>
                <a:ea typeface="Calibri" pitchFamily="34" charset="-122"/>
                <a:cs typeface="Calibri" pitchFamily="34" charset="-120"/>
              </a:rPr>
              <a:t>June 26</a:t>
            </a:r>
            <a:endParaRPr lang="en-US" sz="1500" dirty="0"/>
          </a:p>
        </p:txBody>
      </p:sp>
      <p:sp>
        <p:nvSpPr>
          <p:cNvPr id="12" name="Shape 10"/>
          <p:cNvSpPr/>
          <p:nvPr/>
        </p:nvSpPr>
        <p:spPr>
          <a:xfrm>
            <a:off x="4495648" y="3657600"/>
            <a:ext cx="3200400" cy="2057400"/>
          </a:xfrm>
          <a:prstGeom prst="roundRect">
            <a:avLst>
              <a:gd name="adj" fmla="val 3556"/>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13" name="Text 11"/>
          <p:cNvSpPr/>
          <p:nvPr/>
        </p:nvSpPr>
        <p:spPr>
          <a:xfrm>
            <a:off x="4678528" y="3822192"/>
            <a:ext cx="2834640" cy="548640"/>
          </a:xfrm>
          <a:prstGeom prst="rect">
            <a:avLst/>
          </a:prstGeom>
          <a:noFill/>
          <a:ln/>
        </p:spPr>
        <p:txBody>
          <a:bodyPr wrap="square" lIns="0" tIns="0" rIns="0" bIns="0" rtlCol="0" anchor="t"/>
          <a:lstStyle/>
          <a:p>
            <a:pPr marL="0" indent="0" algn="ctr">
              <a:buNone/>
            </a:pPr>
            <a:r>
              <a:rPr lang="en-US" sz="1350" b="1" dirty="0">
                <a:solidFill>
                  <a:srgbClr val="1E2761"/>
                </a:solidFill>
                <a:latin typeface="Calibri" pitchFamily="34" charset="0"/>
                <a:ea typeface="Calibri" pitchFamily="34" charset="-122"/>
                <a:cs typeface="Calibri" pitchFamily="34" charset="-120"/>
              </a:rPr>
              <a:t>Washington eases up, slightly</a:t>
            </a:r>
            <a:endParaRPr lang="en-US" sz="1350" dirty="0"/>
          </a:p>
        </p:txBody>
      </p:sp>
      <p:sp>
        <p:nvSpPr>
          <p:cNvPr id="14" name="Text 12"/>
          <p:cNvSpPr/>
          <p:nvPr/>
        </p:nvSpPr>
        <p:spPr>
          <a:xfrm>
            <a:off x="4678528" y="4343400"/>
            <a:ext cx="2834640" cy="1234440"/>
          </a:xfrm>
          <a:prstGeom prst="rect">
            <a:avLst/>
          </a:prstGeom>
          <a:noFill/>
          <a:ln/>
        </p:spPr>
        <p:txBody>
          <a:bodyPr wrap="square" lIns="0" tIns="0" rIns="0" bIns="0" rtlCol="0" anchor="t"/>
          <a:lstStyle/>
          <a:p>
            <a:pPr marL="0" indent="0" algn="ctr">
              <a:lnSpc>
                <a:spcPct val="115000"/>
              </a:lnSpc>
              <a:buNone/>
            </a:pPr>
            <a:r>
              <a:rPr lang="en-US" sz="1050" dirty="0">
                <a:solidFill>
                  <a:srgbClr val="1E293B"/>
                </a:solidFill>
                <a:latin typeface="Calibri" pitchFamily="34" charset="0"/>
                <a:ea typeface="Calibri" pitchFamily="34" charset="-122"/>
                <a:cs typeface="Calibri" pitchFamily="34" charset="-120"/>
              </a:rPr>
              <a:t>Regulators authorize a limited release of Mythos to select US companies under revised license terms, days after the broader block.</a:t>
            </a:r>
            <a:endParaRPr lang="en-US" sz="1050" dirty="0"/>
          </a:p>
        </p:txBody>
      </p:sp>
      <p:sp>
        <p:nvSpPr>
          <p:cNvPr id="15" name="Shape 13"/>
          <p:cNvSpPr/>
          <p:nvPr/>
        </p:nvSpPr>
        <p:spPr>
          <a:xfrm>
            <a:off x="10134295" y="3017520"/>
            <a:ext cx="457200" cy="457200"/>
          </a:xfrm>
          <a:prstGeom prst="ellipse">
            <a:avLst/>
          </a:prstGeom>
          <a:solidFill>
            <a:srgbClr val="1E2761"/>
          </a:solidFill>
          <a:ln/>
        </p:spPr>
        <p:txBody>
          <a:bodyPr/>
          <a:lstStyle/>
          <a:p>
            <a:endParaRPr lang="en-BJ"/>
          </a:p>
        </p:txBody>
      </p:sp>
      <p:sp>
        <p:nvSpPr>
          <p:cNvPr id="16" name="Text 14"/>
          <p:cNvSpPr/>
          <p:nvPr/>
        </p:nvSpPr>
        <p:spPr>
          <a:xfrm>
            <a:off x="9357055" y="2194560"/>
            <a:ext cx="2011680" cy="365760"/>
          </a:xfrm>
          <a:prstGeom prst="rect">
            <a:avLst/>
          </a:prstGeom>
          <a:noFill/>
          <a:ln/>
        </p:spPr>
        <p:txBody>
          <a:bodyPr wrap="square" lIns="0" tIns="0" rIns="0" bIns="0" rtlCol="0" anchor="ctr"/>
          <a:lstStyle/>
          <a:p>
            <a:pPr marL="0" indent="0" algn="ctr">
              <a:buNone/>
            </a:pPr>
            <a:r>
              <a:rPr lang="en-US" sz="1500" b="1" dirty="0">
                <a:solidFill>
                  <a:srgbClr val="F2A93B"/>
                </a:solidFill>
                <a:latin typeface="Calibri" pitchFamily="34" charset="0"/>
                <a:ea typeface="Calibri" pitchFamily="34" charset="-122"/>
                <a:cs typeface="Calibri" pitchFamily="34" charset="-120"/>
              </a:rPr>
              <a:t>June 30</a:t>
            </a:r>
            <a:endParaRPr lang="en-US" sz="1500" dirty="0"/>
          </a:p>
        </p:txBody>
      </p:sp>
      <p:sp>
        <p:nvSpPr>
          <p:cNvPr id="17" name="Shape 15"/>
          <p:cNvSpPr/>
          <p:nvPr/>
        </p:nvSpPr>
        <p:spPr>
          <a:xfrm>
            <a:off x="8762695" y="3657600"/>
            <a:ext cx="3200400" cy="2057400"/>
          </a:xfrm>
          <a:prstGeom prst="roundRect">
            <a:avLst>
              <a:gd name="adj" fmla="val 3556"/>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18" name="Text 16"/>
          <p:cNvSpPr/>
          <p:nvPr/>
        </p:nvSpPr>
        <p:spPr>
          <a:xfrm>
            <a:off x="8945575" y="3822192"/>
            <a:ext cx="2834640" cy="548640"/>
          </a:xfrm>
          <a:prstGeom prst="rect">
            <a:avLst/>
          </a:prstGeom>
          <a:noFill/>
          <a:ln/>
        </p:spPr>
        <p:txBody>
          <a:bodyPr wrap="square" lIns="0" tIns="0" rIns="0" bIns="0" rtlCol="0" anchor="t"/>
          <a:lstStyle/>
          <a:p>
            <a:pPr marL="0" indent="0" algn="ctr">
              <a:buNone/>
            </a:pPr>
            <a:r>
              <a:rPr lang="en-US" sz="1350" b="1" dirty="0">
                <a:solidFill>
                  <a:srgbClr val="1E2761"/>
                </a:solidFill>
                <a:latin typeface="Calibri" pitchFamily="34" charset="0"/>
                <a:ea typeface="Calibri" pitchFamily="34" charset="-122"/>
                <a:cs typeface="Calibri" pitchFamily="34" charset="-120"/>
              </a:rPr>
              <a:t>Controls lifted, access restored</a:t>
            </a:r>
            <a:endParaRPr lang="en-US" sz="1350" dirty="0"/>
          </a:p>
        </p:txBody>
      </p:sp>
      <p:sp>
        <p:nvSpPr>
          <p:cNvPr id="19" name="Text 17"/>
          <p:cNvSpPr/>
          <p:nvPr/>
        </p:nvSpPr>
        <p:spPr>
          <a:xfrm>
            <a:off x="8945575" y="4343400"/>
            <a:ext cx="2834640" cy="1234440"/>
          </a:xfrm>
          <a:prstGeom prst="rect">
            <a:avLst/>
          </a:prstGeom>
          <a:noFill/>
          <a:ln/>
        </p:spPr>
        <p:txBody>
          <a:bodyPr wrap="square" lIns="0" tIns="0" rIns="0" bIns="0" rtlCol="0" anchor="t"/>
          <a:lstStyle/>
          <a:p>
            <a:pPr marL="0" indent="0" algn="ctr">
              <a:lnSpc>
                <a:spcPct val="115000"/>
              </a:lnSpc>
              <a:buNone/>
            </a:pPr>
            <a:r>
              <a:rPr lang="en-US" sz="1050" dirty="0">
                <a:solidFill>
                  <a:srgbClr val="1E293B"/>
                </a:solidFill>
                <a:latin typeface="Calibri" pitchFamily="34" charset="0"/>
                <a:ea typeface="Calibri" pitchFamily="34" charset="-122"/>
                <a:cs typeface="Calibri" pitchFamily="34" charset="-120"/>
              </a:rPr>
              <a:t>The Commerce Department fully lifts the export controls. Fable 5 access is restored worldwide the same day.</a:t>
            </a:r>
            <a:endParaRPr lang="en-US" sz="1050" dirty="0"/>
          </a:p>
        </p:txBody>
      </p:sp>
      <p:sp>
        <p:nvSpPr>
          <p:cNvPr id="20" name="Text 18"/>
          <p:cNvSpPr/>
          <p:nvPr/>
        </p:nvSpPr>
        <p:spPr>
          <a:xfrm>
            <a:off x="548640" y="6172200"/>
            <a:ext cx="11094415"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Takeaway:  a full policy reversal inside ten days shows how unsettled frontier-model export rules still are.</a:t>
            </a:r>
            <a:endParaRPr lang="en-US" sz="1200" dirty="0"/>
          </a:p>
        </p:txBody>
      </p:sp>
      <p:sp>
        <p:nvSpPr>
          <p:cNvPr id="22" name="Text 19"/>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REGULATION &amp; GOVERNANCE</a:t>
            </a:r>
            <a:endParaRPr lang="en-US" sz="13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Policy moved on two fronts</a:t>
            </a:r>
            <a:endParaRPr lang="en-US" sz="2800" dirty="0"/>
          </a:p>
        </p:txBody>
      </p:sp>
      <p:sp>
        <p:nvSpPr>
          <p:cNvPr id="4" name="Shape 2"/>
          <p:cNvSpPr/>
          <p:nvPr/>
        </p:nvSpPr>
        <p:spPr>
          <a:xfrm>
            <a:off x="548640" y="1417320"/>
            <a:ext cx="5364328" cy="4297680"/>
          </a:xfrm>
          <a:prstGeom prst="roundRect">
            <a:avLst>
              <a:gd name="adj" fmla="val 1702"/>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5" name="Shape 3"/>
          <p:cNvSpPr/>
          <p:nvPr/>
        </p:nvSpPr>
        <p:spPr>
          <a:xfrm>
            <a:off x="868680" y="1737360"/>
            <a:ext cx="548640" cy="548640"/>
          </a:xfrm>
          <a:prstGeom prst="ellipse">
            <a:avLst/>
          </a:prstGeom>
          <a:solidFill>
            <a:srgbClr val="1E2761"/>
          </a:solidFill>
          <a:ln/>
        </p:spPr>
        <p:txBody>
          <a:bodyPr/>
          <a:lstStyle/>
          <a:p>
            <a:endParaRPr lang="en-BJ"/>
          </a:p>
        </p:txBody>
      </p:sp>
      <p:pic>
        <p:nvPicPr>
          <p:cNvPr id="6" name="Image 0" descr="preencoded.png"/>
          <p:cNvPicPr>
            <a:picLocks noChangeAspect="1"/>
          </p:cNvPicPr>
          <p:nvPr/>
        </p:nvPicPr>
        <p:blipFill>
          <a:blip r:embed="rId3"/>
          <a:stretch>
            <a:fillRect/>
          </a:stretch>
        </p:blipFill>
        <p:spPr>
          <a:xfrm>
            <a:off x="945490" y="1814170"/>
            <a:ext cx="395021" cy="395021"/>
          </a:xfrm>
          <a:prstGeom prst="rect">
            <a:avLst/>
          </a:prstGeom>
        </p:spPr>
      </p:pic>
      <p:sp>
        <p:nvSpPr>
          <p:cNvPr id="7" name="Text 4"/>
          <p:cNvSpPr/>
          <p:nvPr/>
        </p:nvSpPr>
        <p:spPr>
          <a:xfrm>
            <a:off x="1554480" y="1783080"/>
            <a:ext cx="4084168" cy="274320"/>
          </a:xfrm>
          <a:prstGeom prst="rect">
            <a:avLst/>
          </a:prstGeom>
          <a:noFill/>
          <a:ln/>
        </p:spPr>
        <p:txBody>
          <a:bodyPr wrap="square" lIns="0" tIns="0" rIns="0" bIns="0" rtlCol="0" anchor="ctr"/>
          <a:lstStyle/>
          <a:p>
            <a:pPr marL="0" indent="0">
              <a:buNone/>
            </a:pPr>
            <a:r>
              <a:rPr lang="en-US" sz="1200" b="1" dirty="0">
                <a:solidFill>
                  <a:srgbClr val="F2A93B"/>
                </a:solidFill>
                <a:latin typeface="Calibri" pitchFamily="34" charset="0"/>
                <a:ea typeface="Calibri" pitchFamily="34" charset="-122"/>
                <a:cs typeface="Calibri" pitchFamily="34" charset="-120"/>
              </a:rPr>
              <a:t>June 29, 2026</a:t>
            </a:r>
            <a:endParaRPr lang="en-US" sz="1200" dirty="0"/>
          </a:p>
        </p:txBody>
      </p:sp>
      <p:sp>
        <p:nvSpPr>
          <p:cNvPr id="8" name="Text 5"/>
          <p:cNvSpPr/>
          <p:nvPr/>
        </p:nvSpPr>
        <p:spPr>
          <a:xfrm>
            <a:off x="1554480" y="2039112"/>
            <a:ext cx="4084168" cy="548640"/>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EU Council finalizes AI Act delay</a:t>
            </a:r>
            <a:endParaRPr lang="en-US" sz="1500" dirty="0"/>
          </a:p>
        </p:txBody>
      </p:sp>
      <p:sp>
        <p:nvSpPr>
          <p:cNvPr id="9" name="Text 6"/>
          <p:cNvSpPr/>
          <p:nvPr/>
        </p:nvSpPr>
        <p:spPr>
          <a:xfrm>
            <a:off x="868680" y="2788920"/>
            <a:ext cx="4724248" cy="182880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High-risk obligations under Annex III (education, employment, credit scoring, law enforcement) pushed from August 2026 to December 2, 2027.</a:t>
            </a:r>
            <a:endParaRPr lang="en-US" sz="1200" dirty="0"/>
          </a:p>
          <a:p>
            <a:pPr marL="342900" indent="-342900">
              <a:lnSpc>
                <a:spcPct val="110000"/>
              </a:lnSpc>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Watermarking rules delayed to December 2026.</a:t>
            </a:r>
            <a:endParaRPr lang="en-US" sz="1200" dirty="0"/>
          </a:p>
          <a:p>
            <a:pPr marL="342900" indent="-342900">
              <a:lnSpc>
                <a:spcPct val="110000"/>
              </a:lnSpc>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Part of a broader simplification package easing industry pressure.</a:t>
            </a:r>
            <a:endParaRPr lang="en-US" sz="1200" dirty="0"/>
          </a:p>
        </p:txBody>
      </p:sp>
      <p:sp>
        <p:nvSpPr>
          <p:cNvPr id="10" name="Text 7"/>
          <p:cNvSpPr/>
          <p:nvPr/>
        </p:nvSpPr>
        <p:spPr>
          <a:xfrm>
            <a:off x="868680" y="4846320"/>
            <a:ext cx="4724248" cy="685800"/>
          </a:xfrm>
          <a:prstGeom prst="rect">
            <a:avLst/>
          </a:prstGeom>
          <a:noFill/>
          <a:ln/>
        </p:spPr>
        <p:txBody>
          <a:bodyPr wrap="square" lIns="0" tIns="0" rIns="0" bIns="0" rtlCol="0" anchor="t"/>
          <a:lstStyle/>
          <a:p>
            <a:pPr marL="0" indent="0">
              <a:buNone/>
            </a:pPr>
            <a:r>
              <a:rPr lang="en-US" sz="1100" b="1" dirty="0">
                <a:solidFill>
                  <a:srgbClr val="1E2761"/>
                </a:solidFill>
                <a:latin typeface="Calibri" pitchFamily="34" charset="0"/>
                <a:ea typeface="Calibri" pitchFamily="34" charset="-122"/>
                <a:cs typeface="Calibri" pitchFamily="34" charset="-120"/>
              </a:rPr>
              <a:t>Takeaway:  </a:t>
            </a:r>
            <a:r>
              <a:rPr lang="en-US" sz="1100" i="1" dirty="0">
                <a:solidFill>
                  <a:srgbClr val="1E293B"/>
                </a:solidFill>
                <a:latin typeface="Calibri" pitchFamily="34" charset="0"/>
                <a:ea typeface="Calibri" pitchFamily="34" charset="-122"/>
                <a:cs typeface="Calibri" pitchFamily="34" charset="-120"/>
              </a:rPr>
              <a:t>Europe is quietly softening AI Act enforcement timelines.</a:t>
            </a:r>
            <a:endParaRPr lang="en-US" sz="1100" dirty="0"/>
          </a:p>
        </p:txBody>
      </p:sp>
      <p:sp>
        <p:nvSpPr>
          <p:cNvPr id="11" name="Shape 8"/>
          <p:cNvSpPr/>
          <p:nvPr/>
        </p:nvSpPr>
        <p:spPr>
          <a:xfrm>
            <a:off x="6278728" y="1417320"/>
            <a:ext cx="5364328" cy="4297680"/>
          </a:xfrm>
          <a:prstGeom prst="roundRect">
            <a:avLst>
              <a:gd name="adj" fmla="val 1702"/>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12" name="Shape 9"/>
          <p:cNvSpPr/>
          <p:nvPr/>
        </p:nvSpPr>
        <p:spPr>
          <a:xfrm>
            <a:off x="6598768" y="1737360"/>
            <a:ext cx="548640" cy="548640"/>
          </a:xfrm>
          <a:prstGeom prst="ellipse">
            <a:avLst/>
          </a:prstGeom>
          <a:solidFill>
            <a:srgbClr val="1E2761"/>
          </a:solidFill>
          <a:ln/>
        </p:spPr>
        <p:txBody>
          <a:bodyPr/>
          <a:lstStyle/>
          <a:p>
            <a:endParaRPr lang="en-BJ"/>
          </a:p>
        </p:txBody>
      </p:sp>
      <p:pic>
        <p:nvPicPr>
          <p:cNvPr id="13" name="Image 1" descr="preencoded.png"/>
          <p:cNvPicPr>
            <a:picLocks noChangeAspect="1"/>
          </p:cNvPicPr>
          <p:nvPr/>
        </p:nvPicPr>
        <p:blipFill>
          <a:blip r:embed="rId4"/>
          <a:stretch>
            <a:fillRect/>
          </a:stretch>
        </p:blipFill>
        <p:spPr>
          <a:xfrm>
            <a:off x="6675577" y="1814170"/>
            <a:ext cx="395021" cy="395021"/>
          </a:xfrm>
          <a:prstGeom prst="rect">
            <a:avLst/>
          </a:prstGeom>
        </p:spPr>
      </p:pic>
      <p:sp>
        <p:nvSpPr>
          <p:cNvPr id="14" name="Text 10"/>
          <p:cNvSpPr/>
          <p:nvPr/>
        </p:nvSpPr>
        <p:spPr>
          <a:xfrm>
            <a:off x="7284568" y="1783080"/>
            <a:ext cx="4084168" cy="274320"/>
          </a:xfrm>
          <a:prstGeom prst="rect">
            <a:avLst/>
          </a:prstGeom>
          <a:noFill/>
          <a:ln/>
        </p:spPr>
        <p:txBody>
          <a:bodyPr wrap="square" lIns="0" tIns="0" rIns="0" bIns="0" rtlCol="0" anchor="ctr"/>
          <a:lstStyle/>
          <a:p>
            <a:pPr marL="0" indent="0">
              <a:buNone/>
            </a:pPr>
            <a:r>
              <a:rPr lang="en-US" sz="1200" b="1" dirty="0">
                <a:solidFill>
                  <a:srgbClr val="F2A93B"/>
                </a:solidFill>
                <a:latin typeface="Calibri" pitchFamily="34" charset="0"/>
                <a:ea typeface="Calibri" pitchFamily="34" charset="-122"/>
                <a:cs typeface="Calibri" pitchFamily="34" charset="-120"/>
              </a:rPr>
              <a:t>July 1, 2026</a:t>
            </a:r>
            <a:endParaRPr lang="en-US" sz="1200" dirty="0"/>
          </a:p>
        </p:txBody>
      </p:sp>
      <p:sp>
        <p:nvSpPr>
          <p:cNvPr id="15" name="Text 11"/>
          <p:cNvSpPr/>
          <p:nvPr/>
        </p:nvSpPr>
        <p:spPr>
          <a:xfrm>
            <a:off x="7284568" y="2039112"/>
            <a:ext cx="4084168" cy="548640"/>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UN presents AI governance report</a:t>
            </a:r>
            <a:endParaRPr lang="en-US" sz="1500" dirty="0"/>
          </a:p>
        </p:txBody>
      </p:sp>
      <p:sp>
        <p:nvSpPr>
          <p:cNvPr id="16" name="Text 12"/>
          <p:cNvSpPr/>
          <p:nvPr/>
        </p:nvSpPr>
        <p:spPr>
          <a:xfrm>
            <a:off x="6598768" y="2788920"/>
            <a:ext cx="4724248" cy="182880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The Independent International Scientific Panel on AI briefed the UN Secretary-General.</a:t>
            </a:r>
            <a:endParaRPr lang="en-US" sz="1200" dirty="0"/>
          </a:p>
          <a:p>
            <a:pPr marL="342900" indent="-342900">
              <a:lnSpc>
                <a:spcPct val="110000"/>
              </a:lnSpc>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Findings precede the first Global Dialogue on AI Governance in Geneva, July 6 to 7.</a:t>
            </a:r>
            <a:endParaRPr lang="en-US" sz="1200" dirty="0"/>
          </a:p>
          <a:p>
            <a:pPr marL="342900" indent="-342900">
              <a:lnSpc>
                <a:spcPct val="110000"/>
              </a:lnSpc>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First real step toward a coordinated global AI governance body.</a:t>
            </a:r>
            <a:endParaRPr lang="en-US" sz="1200" dirty="0"/>
          </a:p>
        </p:txBody>
      </p:sp>
      <p:sp>
        <p:nvSpPr>
          <p:cNvPr id="17" name="Text 13"/>
          <p:cNvSpPr/>
          <p:nvPr/>
        </p:nvSpPr>
        <p:spPr>
          <a:xfrm>
            <a:off x="6598768" y="4846320"/>
            <a:ext cx="4724248" cy="685800"/>
          </a:xfrm>
          <a:prstGeom prst="rect">
            <a:avLst/>
          </a:prstGeom>
          <a:noFill/>
          <a:ln/>
        </p:spPr>
        <p:txBody>
          <a:bodyPr wrap="square" lIns="0" tIns="0" rIns="0" bIns="0" rtlCol="0" anchor="t"/>
          <a:lstStyle/>
          <a:p>
            <a:pPr marL="0" indent="0">
              <a:buNone/>
            </a:pPr>
            <a:r>
              <a:rPr lang="en-US" sz="1100" b="1" dirty="0">
                <a:solidFill>
                  <a:srgbClr val="1E2761"/>
                </a:solidFill>
                <a:latin typeface="Calibri" pitchFamily="34" charset="0"/>
                <a:ea typeface="Calibri" pitchFamily="34" charset="-122"/>
                <a:cs typeface="Calibri" pitchFamily="34" charset="-120"/>
              </a:rPr>
              <a:t>Takeaway:  </a:t>
            </a:r>
            <a:r>
              <a:rPr lang="en-US" sz="1100" i="1" dirty="0">
                <a:solidFill>
                  <a:srgbClr val="1E293B"/>
                </a:solidFill>
                <a:latin typeface="Calibri" pitchFamily="34" charset="0"/>
                <a:ea typeface="Calibri" pitchFamily="34" charset="-122"/>
                <a:cs typeface="Calibri" pitchFamily="34" charset="-120"/>
              </a:rPr>
              <a:t>Global coordination on AI oversight is starting to take shape.</a:t>
            </a:r>
            <a:endParaRPr lang="en-US" sz="1100" dirty="0"/>
          </a:p>
        </p:txBody>
      </p:sp>
      <p:sp>
        <p:nvSpPr>
          <p:cNvPr id="19" name="Text 14"/>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MODELS, PRODUCTS &amp; RESEARCH</a:t>
            </a:r>
            <a:endParaRPr lang="en-US" sz="13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release cadence kept going</a:t>
            </a:r>
            <a:endParaRPr lang="en-US" sz="2800" dirty="0"/>
          </a:p>
        </p:txBody>
      </p:sp>
      <p:sp>
        <p:nvSpPr>
          <p:cNvPr id="4" name="Shape 2"/>
          <p:cNvSpPr/>
          <p:nvPr/>
        </p:nvSpPr>
        <p:spPr>
          <a:xfrm>
            <a:off x="548640" y="1463040"/>
            <a:ext cx="3484778" cy="3931920"/>
          </a:xfrm>
          <a:prstGeom prst="roundRect">
            <a:avLst>
              <a:gd name="adj" fmla="val 2099"/>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5" name="Shape 3"/>
          <p:cNvSpPr/>
          <p:nvPr/>
        </p:nvSpPr>
        <p:spPr>
          <a:xfrm>
            <a:off x="822960" y="1737360"/>
            <a:ext cx="502920" cy="502920"/>
          </a:xfrm>
          <a:prstGeom prst="ellipse">
            <a:avLst/>
          </a:prstGeom>
          <a:solidFill>
            <a:srgbClr val="1E2761"/>
          </a:solidFill>
          <a:ln/>
        </p:spPr>
        <p:txBody>
          <a:bodyPr/>
          <a:lstStyle/>
          <a:p>
            <a:endParaRPr lang="en-BJ"/>
          </a:p>
        </p:txBody>
      </p:sp>
      <p:pic>
        <p:nvPicPr>
          <p:cNvPr id="6" name="Image 0" descr="preencoded.png"/>
          <p:cNvPicPr>
            <a:picLocks noChangeAspect="1"/>
          </p:cNvPicPr>
          <p:nvPr/>
        </p:nvPicPr>
        <p:blipFill>
          <a:blip r:embed="rId3"/>
          <a:stretch>
            <a:fillRect/>
          </a:stretch>
        </p:blipFill>
        <p:spPr>
          <a:xfrm>
            <a:off x="893369" y="1807769"/>
            <a:ext cx="362102" cy="362102"/>
          </a:xfrm>
          <a:prstGeom prst="rect">
            <a:avLst/>
          </a:prstGeom>
        </p:spPr>
      </p:pic>
      <p:sp>
        <p:nvSpPr>
          <p:cNvPr id="7" name="Text 4"/>
          <p:cNvSpPr/>
          <p:nvPr/>
        </p:nvSpPr>
        <p:spPr>
          <a:xfrm>
            <a:off x="822960" y="2377440"/>
            <a:ext cx="2936138" cy="274320"/>
          </a:xfrm>
          <a:prstGeom prst="rect">
            <a:avLst/>
          </a:prstGeom>
          <a:noFill/>
          <a:ln/>
        </p:spPr>
        <p:txBody>
          <a:bodyPr wrap="square" lIns="0" tIns="0" rIns="0" bIns="0" rtlCol="0" anchor="ctr"/>
          <a:lstStyle/>
          <a:p>
            <a:pPr marL="0" indent="0">
              <a:buNone/>
            </a:pPr>
            <a:r>
              <a:rPr lang="en-US" sz="1200" b="1" dirty="0">
                <a:solidFill>
                  <a:srgbClr val="F2A93B"/>
                </a:solidFill>
                <a:latin typeface="Calibri" pitchFamily="34" charset="0"/>
                <a:ea typeface="Calibri" pitchFamily="34" charset="-122"/>
                <a:cs typeface="Calibri" pitchFamily="34" charset="-120"/>
              </a:rPr>
              <a:t>July 1</a:t>
            </a:r>
            <a:endParaRPr lang="en-US" sz="1200" dirty="0"/>
          </a:p>
        </p:txBody>
      </p:sp>
      <p:sp>
        <p:nvSpPr>
          <p:cNvPr id="8" name="Text 5"/>
          <p:cNvSpPr/>
          <p:nvPr/>
        </p:nvSpPr>
        <p:spPr>
          <a:xfrm>
            <a:off x="822960" y="2651760"/>
            <a:ext cx="2936138" cy="685800"/>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Claude Sonnet 5 goes default</a:t>
            </a:r>
            <a:endParaRPr lang="en-US" sz="1500" dirty="0"/>
          </a:p>
        </p:txBody>
      </p:sp>
      <p:sp>
        <p:nvSpPr>
          <p:cNvPr id="9" name="Text 6"/>
          <p:cNvSpPr/>
          <p:nvPr/>
        </p:nvSpPr>
        <p:spPr>
          <a:xfrm>
            <a:off x="822960" y="3337560"/>
            <a:ext cx="2936138" cy="1828800"/>
          </a:xfrm>
          <a:prstGeom prst="rect">
            <a:avLst/>
          </a:prstGeom>
          <a:noFill/>
          <a:ln/>
        </p:spPr>
        <p:txBody>
          <a:bodyPr wrap="square" lIns="0" tIns="0" rIns="0" bIns="0" rtlCol="0" anchor="t"/>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Free plan users get Sonnet 5 at no cost. Pro users ($17/month) get higher limits plus Opus 4.8 access.</a:t>
            </a:r>
            <a:endParaRPr lang="en-US" sz="1200" dirty="0"/>
          </a:p>
        </p:txBody>
      </p:sp>
      <p:sp>
        <p:nvSpPr>
          <p:cNvPr id="10" name="Shape 7"/>
          <p:cNvSpPr/>
          <p:nvPr/>
        </p:nvSpPr>
        <p:spPr>
          <a:xfrm>
            <a:off x="4353458" y="1463040"/>
            <a:ext cx="3484778" cy="3931920"/>
          </a:xfrm>
          <a:prstGeom prst="roundRect">
            <a:avLst>
              <a:gd name="adj" fmla="val 2099"/>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11" name="Shape 8"/>
          <p:cNvSpPr/>
          <p:nvPr/>
        </p:nvSpPr>
        <p:spPr>
          <a:xfrm>
            <a:off x="4627778" y="1737360"/>
            <a:ext cx="502920" cy="502920"/>
          </a:xfrm>
          <a:prstGeom prst="ellipse">
            <a:avLst/>
          </a:prstGeom>
          <a:solidFill>
            <a:srgbClr val="1E2761"/>
          </a:solidFill>
          <a:ln/>
        </p:spPr>
        <p:txBody>
          <a:bodyPr/>
          <a:lstStyle/>
          <a:p>
            <a:endParaRPr lang="en-BJ"/>
          </a:p>
        </p:txBody>
      </p:sp>
      <p:pic>
        <p:nvPicPr>
          <p:cNvPr id="12" name="Image 1" descr="preencoded.png"/>
          <p:cNvPicPr>
            <a:picLocks noChangeAspect="1"/>
          </p:cNvPicPr>
          <p:nvPr/>
        </p:nvPicPr>
        <p:blipFill>
          <a:blip r:embed="rId3"/>
          <a:stretch>
            <a:fillRect/>
          </a:stretch>
        </p:blipFill>
        <p:spPr>
          <a:xfrm>
            <a:off x="4698187" y="1807769"/>
            <a:ext cx="362102" cy="362102"/>
          </a:xfrm>
          <a:prstGeom prst="rect">
            <a:avLst/>
          </a:prstGeom>
        </p:spPr>
      </p:pic>
      <p:sp>
        <p:nvSpPr>
          <p:cNvPr id="13" name="Text 9"/>
          <p:cNvSpPr/>
          <p:nvPr/>
        </p:nvSpPr>
        <p:spPr>
          <a:xfrm>
            <a:off x="4627778" y="2377440"/>
            <a:ext cx="2936138" cy="274320"/>
          </a:xfrm>
          <a:prstGeom prst="rect">
            <a:avLst/>
          </a:prstGeom>
          <a:noFill/>
          <a:ln/>
        </p:spPr>
        <p:txBody>
          <a:bodyPr wrap="square" lIns="0" tIns="0" rIns="0" bIns="0" rtlCol="0" anchor="ctr"/>
          <a:lstStyle/>
          <a:p>
            <a:pPr marL="0" indent="0">
              <a:buNone/>
            </a:pPr>
            <a:r>
              <a:rPr lang="en-US" sz="1200" b="1" dirty="0">
                <a:solidFill>
                  <a:srgbClr val="F2A93B"/>
                </a:solidFill>
                <a:latin typeface="Calibri" pitchFamily="34" charset="0"/>
                <a:ea typeface="Calibri" pitchFamily="34" charset="-122"/>
                <a:cs typeface="Calibri" pitchFamily="34" charset="-120"/>
              </a:rPr>
              <a:t>June 30</a:t>
            </a:r>
            <a:endParaRPr lang="en-US" sz="1200" dirty="0"/>
          </a:p>
        </p:txBody>
      </p:sp>
      <p:sp>
        <p:nvSpPr>
          <p:cNvPr id="14" name="Text 10"/>
          <p:cNvSpPr/>
          <p:nvPr/>
        </p:nvSpPr>
        <p:spPr>
          <a:xfrm>
            <a:off x="4627778" y="2651760"/>
            <a:ext cx="2936138" cy="685800"/>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Google ships new image models</a:t>
            </a:r>
            <a:endParaRPr lang="en-US" sz="1500" dirty="0"/>
          </a:p>
        </p:txBody>
      </p:sp>
      <p:sp>
        <p:nvSpPr>
          <p:cNvPr id="15" name="Text 11"/>
          <p:cNvSpPr/>
          <p:nvPr/>
        </p:nvSpPr>
        <p:spPr>
          <a:xfrm>
            <a:off x="4627778" y="3337560"/>
            <a:ext cx="2936138" cy="1828800"/>
          </a:xfrm>
          <a:prstGeom prst="rect">
            <a:avLst/>
          </a:prstGeom>
          <a:noFill/>
          <a:ln/>
        </p:spPr>
        <p:txBody>
          <a:bodyPr wrap="square" lIns="0" tIns="0" rIns="0" bIns="0" rtlCol="0" anchor="t"/>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Gemini 3.1 Flash Image and Gemini 3 Pro Image launch on Google AI Studio and the Gemini API.</a:t>
            </a:r>
            <a:endParaRPr lang="en-US" sz="1200" dirty="0"/>
          </a:p>
        </p:txBody>
      </p:sp>
      <p:sp>
        <p:nvSpPr>
          <p:cNvPr id="16" name="Shape 12"/>
          <p:cNvSpPr/>
          <p:nvPr/>
        </p:nvSpPr>
        <p:spPr>
          <a:xfrm>
            <a:off x="8158277" y="1463040"/>
            <a:ext cx="3484778" cy="3931920"/>
          </a:xfrm>
          <a:prstGeom prst="roundRect">
            <a:avLst>
              <a:gd name="adj" fmla="val 2099"/>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17" name="Shape 13"/>
          <p:cNvSpPr/>
          <p:nvPr/>
        </p:nvSpPr>
        <p:spPr>
          <a:xfrm>
            <a:off x="8432597" y="1737360"/>
            <a:ext cx="502920" cy="502920"/>
          </a:xfrm>
          <a:prstGeom prst="ellipse">
            <a:avLst/>
          </a:prstGeom>
          <a:solidFill>
            <a:srgbClr val="1E2761"/>
          </a:solidFill>
          <a:ln/>
        </p:spPr>
        <p:txBody>
          <a:bodyPr/>
          <a:lstStyle/>
          <a:p>
            <a:endParaRPr lang="en-BJ"/>
          </a:p>
        </p:txBody>
      </p:sp>
      <p:pic>
        <p:nvPicPr>
          <p:cNvPr id="18" name="Image 2" descr="preencoded.png"/>
          <p:cNvPicPr>
            <a:picLocks noChangeAspect="1"/>
          </p:cNvPicPr>
          <p:nvPr/>
        </p:nvPicPr>
        <p:blipFill>
          <a:blip r:embed="rId3"/>
          <a:stretch>
            <a:fillRect/>
          </a:stretch>
        </p:blipFill>
        <p:spPr>
          <a:xfrm>
            <a:off x="8503006" y="1807769"/>
            <a:ext cx="362102" cy="362102"/>
          </a:xfrm>
          <a:prstGeom prst="rect">
            <a:avLst/>
          </a:prstGeom>
        </p:spPr>
      </p:pic>
      <p:sp>
        <p:nvSpPr>
          <p:cNvPr id="19" name="Text 14"/>
          <p:cNvSpPr/>
          <p:nvPr/>
        </p:nvSpPr>
        <p:spPr>
          <a:xfrm>
            <a:off x="8432597" y="2377440"/>
            <a:ext cx="2936138" cy="274320"/>
          </a:xfrm>
          <a:prstGeom prst="rect">
            <a:avLst/>
          </a:prstGeom>
          <a:noFill/>
          <a:ln/>
        </p:spPr>
        <p:txBody>
          <a:bodyPr wrap="square" lIns="0" tIns="0" rIns="0" bIns="0" rtlCol="0" anchor="ctr"/>
          <a:lstStyle/>
          <a:p>
            <a:pPr marL="0" indent="0">
              <a:buNone/>
            </a:pPr>
            <a:r>
              <a:rPr lang="en-US" sz="1200" b="1" dirty="0">
                <a:solidFill>
                  <a:srgbClr val="F2A93B"/>
                </a:solidFill>
                <a:latin typeface="Calibri" pitchFamily="34" charset="0"/>
                <a:ea typeface="Calibri" pitchFamily="34" charset="-122"/>
                <a:cs typeface="Calibri" pitchFamily="34" charset="-120"/>
              </a:rPr>
              <a:t>June 30 to July 1</a:t>
            </a:r>
            <a:endParaRPr lang="en-US" sz="1200" dirty="0"/>
          </a:p>
        </p:txBody>
      </p:sp>
      <p:sp>
        <p:nvSpPr>
          <p:cNvPr id="20" name="Text 15"/>
          <p:cNvSpPr/>
          <p:nvPr/>
        </p:nvSpPr>
        <p:spPr>
          <a:xfrm>
            <a:off x="8432597" y="2651760"/>
            <a:ext cx="2936138" cy="685800"/>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Claude Science opens for grants</a:t>
            </a:r>
            <a:endParaRPr lang="en-US" sz="1500" dirty="0"/>
          </a:p>
        </p:txBody>
      </p:sp>
      <p:sp>
        <p:nvSpPr>
          <p:cNvPr id="21" name="Text 16"/>
          <p:cNvSpPr/>
          <p:nvPr/>
        </p:nvSpPr>
        <p:spPr>
          <a:xfrm>
            <a:off x="8432597" y="3337560"/>
            <a:ext cx="2936138" cy="1828800"/>
          </a:xfrm>
          <a:prstGeom prst="rect">
            <a:avLst/>
          </a:prstGeom>
          <a:noFill/>
          <a:ln/>
        </p:spPr>
        <p:txBody>
          <a:bodyPr wrap="square" lIns="0" tIns="0" rIns="0" bIns="0" rtlCol="0" anchor="t"/>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Anthropic's research app will fund up to 50 AI-for-Science projects with up to $30,000 in API credits each. Applications close July 15.</a:t>
            </a:r>
            <a:endParaRPr lang="en-US" sz="1200" dirty="0"/>
          </a:p>
        </p:txBody>
      </p:sp>
      <p:sp>
        <p:nvSpPr>
          <p:cNvPr id="23" name="Text 17"/>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INFRASTRUCTURE &amp; CHIPS</a:t>
            </a:r>
            <a:endParaRPr lang="en-US" sz="13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OpenAI joins the custom-silicon race</a:t>
            </a:r>
            <a:endParaRPr lang="en-US" sz="2800" dirty="0"/>
          </a:p>
        </p:txBody>
      </p:sp>
      <p:sp>
        <p:nvSpPr>
          <p:cNvPr id="4" name="Shape 2"/>
          <p:cNvSpPr/>
          <p:nvPr/>
        </p:nvSpPr>
        <p:spPr>
          <a:xfrm>
            <a:off x="548640" y="1554480"/>
            <a:ext cx="4206240" cy="3337560"/>
          </a:xfrm>
          <a:prstGeom prst="roundRect">
            <a:avLst>
              <a:gd name="adj" fmla="val 2740"/>
            </a:avLst>
          </a:prstGeom>
          <a:solidFill>
            <a:srgbClr val="1E2761"/>
          </a:solidFill>
          <a:ln/>
          <a:effectLst>
            <a:outerShdw blurRad="127000" dist="38100" dir="5400000" algn="bl" rotWithShape="0">
              <a:srgbClr val="1E2761">
                <a:alpha val="12000"/>
              </a:srgbClr>
            </a:outerShdw>
          </a:effectLst>
        </p:spPr>
        <p:txBody>
          <a:bodyPr/>
          <a:lstStyle/>
          <a:p>
            <a:endParaRPr lang="en-BJ"/>
          </a:p>
        </p:txBody>
      </p:sp>
      <p:sp>
        <p:nvSpPr>
          <p:cNvPr id="5" name="Shape 3"/>
          <p:cNvSpPr/>
          <p:nvPr/>
        </p:nvSpPr>
        <p:spPr>
          <a:xfrm>
            <a:off x="2194560" y="2011680"/>
            <a:ext cx="914400" cy="914400"/>
          </a:xfrm>
          <a:prstGeom prst="ellipse">
            <a:avLst/>
          </a:prstGeom>
          <a:solidFill>
            <a:srgbClr val="CADCFC"/>
          </a:solidFill>
          <a:ln/>
        </p:spPr>
        <p:txBody>
          <a:bodyPr/>
          <a:lstStyle/>
          <a:p>
            <a:endParaRPr lang="en-BJ"/>
          </a:p>
        </p:txBody>
      </p:sp>
      <p:pic>
        <p:nvPicPr>
          <p:cNvPr id="6" name="Image 0" descr="preencoded.png"/>
          <p:cNvPicPr>
            <a:picLocks noChangeAspect="1"/>
          </p:cNvPicPr>
          <p:nvPr/>
        </p:nvPicPr>
        <p:blipFill>
          <a:blip r:embed="rId3"/>
          <a:stretch>
            <a:fillRect/>
          </a:stretch>
        </p:blipFill>
        <p:spPr>
          <a:xfrm>
            <a:off x="2322576" y="2139696"/>
            <a:ext cx="658368" cy="658368"/>
          </a:xfrm>
          <a:prstGeom prst="rect">
            <a:avLst/>
          </a:prstGeom>
        </p:spPr>
      </p:pic>
      <p:sp>
        <p:nvSpPr>
          <p:cNvPr id="7" name="Text 4"/>
          <p:cNvSpPr/>
          <p:nvPr/>
        </p:nvSpPr>
        <p:spPr>
          <a:xfrm>
            <a:off x="822960" y="3200400"/>
            <a:ext cx="365760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Jalapeño</a:t>
            </a:r>
            <a:endParaRPr lang="en-US" sz="2600" dirty="0"/>
          </a:p>
        </p:txBody>
      </p:sp>
      <p:sp>
        <p:nvSpPr>
          <p:cNvPr id="8" name="Text 5"/>
          <p:cNvSpPr/>
          <p:nvPr/>
        </p:nvSpPr>
        <p:spPr>
          <a:xfrm>
            <a:off x="822960" y="3749040"/>
            <a:ext cx="3657600" cy="457200"/>
          </a:xfrm>
          <a:prstGeom prst="rect">
            <a:avLst/>
          </a:prstGeom>
          <a:noFill/>
          <a:ln/>
        </p:spPr>
        <p:txBody>
          <a:bodyPr wrap="square" lIns="0" tIns="0" rIns="0" bIns="0" rtlCol="0" anchor="ctr"/>
          <a:lstStyle/>
          <a:p>
            <a:pPr marL="0" indent="0" algn="ctr">
              <a:buNone/>
            </a:pPr>
            <a:r>
              <a:rPr lang="en-US" sz="1300" i="1" dirty="0">
                <a:solidFill>
                  <a:srgbClr val="CADCFC"/>
                </a:solidFill>
                <a:latin typeface="Calibri" pitchFamily="34" charset="0"/>
                <a:ea typeface="Calibri" pitchFamily="34" charset="-122"/>
                <a:cs typeface="Calibri" pitchFamily="34" charset="-120"/>
              </a:rPr>
              <a:t>OpenAI's first custom AI chip</a:t>
            </a:r>
            <a:endParaRPr lang="en-US" sz="1300" dirty="0"/>
          </a:p>
        </p:txBody>
      </p:sp>
      <p:sp>
        <p:nvSpPr>
          <p:cNvPr id="9" name="Text 6"/>
          <p:cNvSpPr/>
          <p:nvPr/>
        </p:nvSpPr>
        <p:spPr>
          <a:xfrm>
            <a:off x="822960" y="4343400"/>
            <a:ext cx="3657600" cy="365760"/>
          </a:xfrm>
          <a:prstGeom prst="rect">
            <a:avLst/>
          </a:prstGeom>
          <a:noFill/>
          <a:ln/>
        </p:spPr>
        <p:txBody>
          <a:bodyPr wrap="square" lIns="0" tIns="0" rIns="0" bIns="0" rtlCol="0" anchor="ctr"/>
          <a:lstStyle/>
          <a:p>
            <a:pPr marL="0" indent="0" algn="ctr">
              <a:buNone/>
            </a:pPr>
            <a:r>
              <a:rPr lang="en-US" sz="1200" b="1" dirty="0">
                <a:solidFill>
                  <a:srgbClr val="F2A93B"/>
                </a:solidFill>
                <a:latin typeface="Calibri" pitchFamily="34" charset="0"/>
                <a:ea typeface="Calibri" pitchFamily="34" charset="-122"/>
                <a:cs typeface="Calibri" pitchFamily="34" charset="-120"/>
              </a:rPr>
              <a:t>June 24, 2026</a:t>
            </a:r>
            <a:endParaRPr lang="en-US" sz="1200" dirty="0"/>
          </a:p>
        </p:txBody>
      </p:sp>
      <p:sp>
        <p:nvSpPr>
          <p:cNvPr id="10" name="Text 7"/>
          <p:cNvSpPr/>
          <p:nvPr/>
        </p:nvSpPr>
        <p:spPr>
          <a:xfrm>
            <a:off x="5212080" y="1645920"/>
            <a:ext cx="6430975" cy="822960"/>
          </a:xfrm>
          <a:prstGeom prst="rect">
            <a:avLst/>
          </a:prstGeom>
          <a:noFill/>
          <a:ln/>
        </p:spPr>
        <p:txBody>
          <a:bodyPr wrap="square" lIns="0" tIns="0" rIns="0" bIns="0"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Built with Broadcom to run ChatGPT and Codex more efficiently at scale.</a:t>
            </a:r>
            <a:endParaRPr lang="en-US" sz="1600" dirty="0"/>
          </a:p>
        </p:txBody>
      </p:sp>
      <p:sp>
        <p:nvSpPr>
          <p:cNvPr id="11" name="Text 8"/>
          <p:cNvSpPr/>
          <p:nvPr/>
        </p:nvSpPr>
        <p:spPr>
          <a:xfrm>
            <a:off x="5212080" y="2606040"/>
            <a:ext cx="6430975" cy="160020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Targets inference cost and latency for ChatGPT and OpenAI's coding agent, Codex.</a:t>
            </a:r>
            <a:endParaRPr lang="en-US" sz="1350" dirty="0"/>
          </a:p>
          <a:p>
            <a:pPr marL="342900" indent="-342900">
              <a:lnSpc>
                <a:spcPct val="115000"/>
              </a:lnSpc>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Follows the same playbook as Google, Amazon, and Meta, each of which already build custom AI silicon to cut Nvidia dependency.</a:t>
            </a:r>
            <a:endParaRPr lang="en-US" sz="1350" dirty="0"/>
          </a:p>
          <a:p>
            <a:pPr marL="342900" indent="-342900">
              <a:lnSpc>
                <a:spcPct val="115000"/>
              </a:lnSpc>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Comes as OpenAI's compute needs keep climbing alongside GPT-5.6 and its agentic products.</a:t>
            </a:r>
            <a:endParaRPr lang="en-US" sz="1350" dirty="0"/>
          </a:p>
        </p:txBody>
      </p:sp>
      <p:sp>
        <p:nvSpPr>
          <p:cNvPr id="12" name="Shape 9"/>
          <p:cNvSpPr/>
          <p:nvPr/>
        </p:nvSpPr>
        <p:spPr>
          <a:xfrm>
            <a:off x="5212080" y="4297680"/>
            <a:ext cx="6430975" cy="594360"/>
          </a:xfrm>
          <a:prstGeom prst="roundRect">
            <a:avLst>
              <a:gd name="adj" fmla="val 12308"/>
            </a:avLst>
          </a:prstGeom>
          <a:solidFill>
            <a:srgbClr val="F1F5FC"/>
          </a:solidFill>
          <a:ln/>
        </p:spPr>
        <p:txBody>
          <a:bodyPr/>
          <a:lstStyle/>
          <a:p>
            <a:endParaRPr lang="en-BJ"/>
          </a:p>
        </p:txBody>
      </p:sp>
      <p:sp>
        <p:nvSpPr>
          <p:cNvPr id="13" name="Text 10"/>
          <p:cNvSpPr/>
          <p:nvPr/>
        </p:nvSpPr>
        <p:spPr>
          <a:xfrm>
            <a:off x="5394960" y="4297680"/>
            <a:ext cx="6065215" cy="59436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Takeaway:  </a:t>
            </a:r>
            <a:r>
              <a:rPr lang="en-US" sz="1200" i="1" dirty="0">
                <a:solidFill>
                  <a:srgbClr val="1E293B"/>
                </a:solidFill>
                <a:latin typeface="Calibri" pitchFamily="34" charset="0"/>
                <a:ea typeface="Calibri" pitchFamily="34" charset="-122"/>
                <a:cs typeface="Calibri" pitchFamily="34" charset="-120"/>
              </a:rPr>
              <a:t>OpenAI is moving to control more of its own infrastructure stack, not just rent it.</a:t>
            </a:r>
            <a:endParaRPr lang="en-US" sz="1200" dirty="0"/>
          </a:p>
        </p:txBody>
      </p:sp>
      <p:sp>
        <p:nvSpPr>
          <p:cNvPr id="15" name="Text 1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AI SECURITY</a:t>
            </a:r>
            <a:endParaRPr lang="en-US" sz="13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A double-edged sword, June 22</a:t>
            </a:r>
            <a:endParaRPr lang="en-US" sz="2800" dirty="0"/>
          </a:p>
        </p:txBody>
      </p:sp>
      <p:sp>
        <p:nvSpPr>
          <p:cNvPr id="4" name="Shape 2"/>
          <p:cNvSpPr/>
          <p:nvPr/>
        </p:nvSpPr>
        <p:spPr>
          <a:xfrm>
            <a:off x="548640" y="1463040"/>
            <a:ext cx="5364328" cy="3840480"/>
          </a:xfrm>
          <a:prstGeom prst="roundRect">
            <a:avLst>
              <a:gd name="adj" fmla="val 1905"/>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5" name="Shape 3"/>
          <p:cNvSpPr/>
          <p:nvPr/>
        </p:nvSpPr>
        <p:spPr>
          <a:xfrm>
            <a:off x="868680" y="1783080"/>
            <a:ext cx="548640" cy="548640"/>
          </a:xfrm>
          <a:prstGeom prst="ellipse">
            <a:avLst/>
          </a:prstGeom>
          <a:solidFill>
            <a:srgbClr val="1E2761"/>
          </a:solidFill>
          <a:ln/>
        </p:spPr>
        <p:txBody>
          <a:bodyPr/>
          <a:lstStyle/>
          <a:p>
            <a:endParaRPr lang="en-BJ"/>
          </a:p>
        </p:txBody>
      </p:sp>
      <p:pic>
        <p:nvPicPr>
          <p:cNvPr id="6" name="Image 0" descr="preencoded.png"/>
          <p:cNvPicPr>
            <a:picLocks noChangeAspect="1"/>
          </p:cNvPicPr>
          <p:nvPr/>
        </p:nvPicPr>
        <p:blipFill>
          <a:blip r:embed="rId3"/>
          <a:stretch>
            <a:fillRect/>
          </a:stretch>
        </p:blipFill>
        <p:spPr>
          <a:xfrm>
            <a:off x="945490" y="1859890"/>
            <a:ext cx="395021" cy="395021"/>
          </a:xfrm>
          <a:prstGeom prst="rect">
            <a:avLst/>
          </a:prstGeom>
        </p:spPr>
      </p:pic>
      <p:sp>
        <p:nvSpPr>
          <p:cNvPr id="7" name="Text 4"/>
          <p:cNvSpPr/>
          <p:nvPr/>
        </p:nvSpPr>
        <p:spPr>
          <a:xfrm>
            <a:off x="1554480" y="1828800"/>
            <a:ext cx="4084168" cy="548640"/>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AI finds real bugs</a:t>
            </a:r>
            <a:endParaRPr lang="en-US" sz="1500" dirty="0"/>
          </a:p>
        </p:txBody>
      </p:sp>
      <p:sp>
        <p:nvSpPr>
          <p:cNvPr id="8" name="Text 5"/>
          <p:cNvSpPr/>
          <p:nvPr/>
        </p:nvSpPr>
        <p:spPr>
          <a:xfrm>
            <a:off x="1554480" y="2331720"/>
            <a:ext cx="4084168"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OpenAI's “Daybreak” program</a:t>
            </a:r>
            <a:endParaRPr lang="en-US" sz="1200" dirty="0"/>
          </a:p>
        </p:txBody>
      </p:sp>
      <p:sp>
        <p:nvSpPr>
          <p:cNvPr id="9" name="Text 6"/>
          <p:cNvSpPr/>
          <p:nvPr/>
        </p:nvSpPr>
        <p:spPr>
          <a:xfrm>
            <a:off x="868680" y="2834640"/>
            <a:ext cx="2011680" cy="822960"/>
          </a:xfrm>
          <a:prstGeom prst="rect">
            <a:avLst/>
          </a:prstGeom>
          <a:noFill/>
          <a:ln/>
        </p:spPr>
        <p:txBody>
          <a:bodyPr wrap="square" lIns="0" tIns="0" rIns="0" bIns="0" rtlCol="0" anchor="t"/>
          <a:lstStyle/>
          <a:p>
            <a:pPr marL="0" indent="0">
              <a:buNone/>
            </a:pPr>
            <a:r>
              <a:rPr lang="en-US" sz="4000" b="1" dirty="0">
                <a:solidFill>
                  <a:srgbClr val="F2A93B"/>
                </a:solidFill>
                <a:latin typeface="Calibri" pitchFamily="34" charset="0"/>
                <a:ea typeface="Calibri" pitchFamily="34" charset="-122"/>
                <a:cs typeface="Calibri" pitchFamily="34" charset="-120"/>
              </a:rPr>
              <a:t>24</a:t>
            </a:r>
            <a:endParaRPr lang="en-US" sz="4000" dirty="0"/>
          </a:p>
        </p:txBody>
      </p:sp>
      <p:sp>
        <p:nvSpPr>
          <p:cNvPr id="10" name="Text 7"/>
          <p:cNvSpPr/>
          <p:nvPr/>
        </p:nvSpPr>
        <p:spPr>
          <a:xfrm>
            <a:off x="868680" y="3611880"/>
            <a:ext cx="2286000" cy="64008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Linux kernel privilege-</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escalation exploits found</a:t>
            </a:r>
            <a:endParaRPr lang="en-US" sz="1050" dirty="0"/>
          </a:p>
        </p:txBody>
      </p:sp>
      <p:sp>
        <p:nvSpPr>
          <p:cNvPr id="11" name="Text 8"/>
          <p:cNvSpPr/>
          <p:nvPr/>
        </p:nvSpPr>
        <p:spPr>
          <a:xfrm>
            <a:off x="3200400" y="2834640"/>
            <a:ext cx="1371600" cy="822960"/>
          </a:xfrm>
          <a:prstGeom prst="rect">
            <a:avLst/>
          </a:prstGeom>
          <a:noFill/>
          <a:ln/>
        </p:spPr>
        <p:txBody>
          <a:bodyPr wrap="square" lIns="0" tIns="0" rIns="0" bIns="0" rtlCol="0" anchor="t"/>
          <a:lstStyle/>
          <a:p>
            <a:pPr marL="0" indent="0">
              <a:buNone/>
            </a:pPr>
            <a:r>
              <a:rPr lang="en-US" sz="4000" b="1" dirty="0">
                <a:solidFill>
                  <a:srgbClr val="F2A93B"/>
                </a:solidFill>
                <a:latin typeface="Calibri" pitchFamily="34" charset="0"/>
                <a:ea typeface="Calibri" pitchFamily="34" charset="-122"/>
                <a:cs typeface="Calibri" pitchFamily="34" charset="-120"/>
              </a:rPr>
              <a:t>1</a:t>
            </a:r>
            <a:endParaRPr lang="en-US" sz="4000" dirty="0"/>
          </a:p>
        </p:txBody>
      </p:sp>
      <p:sp>
        <p:nvSpPr>
          <p:cNvPr id="12" name="Text 9"/>
          <p:cNvSpPr/>
          <p:nvPr/>
        </p:nvSpPr>
        <p:spPr>
          <a:xfrm>
            <a:off x="3200400" y="3611880"/>
            <a:ext cx="2392528" cy="64008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Critical Squid web</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proxy vulnerability</a:t>
            </a:r>
            <a:endParaRPr lang="en-US" sz="1050" dirty="0"/>
          </a:p>
        </p:txBody>
      </p:sp>
      <p:sp>
        <p:nvSpPr>
          <p:cNvPr id="13" name="Text 10"/>
          <p:cNvSpPr/>
          <p:nvPr/>
        </p:nvSpPr>
        <p:spPr>
          <a:xfrm>
            <a:off x="868680" y="4434840"/>
            <a:ext cx="4724248" cy="594360"/>
          </a:xfrm>
          <a:prstGeom prst="rect">
            <a:avLst/>
          </a:prstGeom>
          <a:noFill/>
          <a:ln/>
        </p:spPr>
        <p:txBody>
          <a:bodyPr wrap="square" lIns="0" tIns="0" rIns="0" bIns="0" rtlCol="0" anchor="t"/>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The GPT-5.5-Cyber model systematically audited open-source code, surfacing real, previously unknown vulnerabilities at a pace no human team could match.</a:t>
            </a:r>
            <a:endParaRPr lang="en-US" sz="1150" dirty="0"/>
          </a:p>
        </p:txBody>
      </p:sp>
      <p:sp>
        <p:nvSpPr>
          <p:cNvPr id="14" name="Shape 11"/>
          <p:cNvSpPr/>
          <p:nvPr/>
        </p:nvSpPr>
        <p:spPr>
          <a:xfrm>
            <a:off x="6278728" y="1463040"/>
            <a:ext cx="5364328" cy="3840480"/>
          </a:xfrm>
          <a:prstGeom prst="roundRect">
            <a:avLst>
              <a:gd name="adj" fmla="val 1905"/>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15" name="Shape 12"/>
          <p:cNvSpPr/>
          <p:nvPr/>
        </p:nvSpPr>
        <p:spPr>
          <a:xfrm>
            <a:off x="6598768" y="1783080"/>
            <a:ext cx="548640" cy="548640"/>
          </a:xfrm>
          <a:prstGeom prst="ellipse">
            <a:avLst/>
          </a:prstGeom>
          <a:solidFill>
            <a:srgbClr val="1E2761"/>
          </a:solidFill>
          <a:ln/>
        </p:spPr>
        <p:txBody>
          <a:bodyPr/>
          <a:lstStyle/>
          <a:p>
            <a:endParaRPr lang="en-BJ"/>
          </a:p>
        </p:txBody>
      </p:sp>
      <p:pic>
        <p:nvPicPr>
          <p:cNvPr id="16" name="Image 1" descr="preencoded.png"/>
          <p:cNvPicPr>
            <a:picLocks noChangeAspect="1"/>
          </p:cNvPicPr>
          <p:nvPr/>
        </p:nvPicPr>
        <p:blipFill>
          <a:blip r:embed="rId3"/>
          <a:stretch>
            <a:fillRect/>
          </a:stretch>
        </p:blipFill>
        <p:spPr>
          <a:xfrm>
            <a:off x="6675577" y="1859890"/>
            <a:ext cx="395021" cy="395021"/>
          </a:xfrm>
          <a:prstGeom prst="rect">
            <a:avLst/>
          </a:prstGeom>
        </p:spPr>
      </p:pic>
      <p:sp>
        <p:nvSpPr>
          <p:cNvPr id="17" name="Text 13"/>
          <p:cNvSpPr/>
          <p:nvPr/>
        </p:nvSpPr>
        <p:spPr>
          <a:xfrm>
            <a:off x="7284568" y="1828800"/>
            <a:ext cx="4084168" cy="548640"/>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AI creates new risk</a:t>
            </a:r>
            <a:endParaRPr lang="en-US" sz="1500" dirty="0"/>
          </a:p>
        </p:txBody>
      </p:sp>
      <p:sp>
        <p:nvSpPr>
          <p:cNvPr id="18" name="Text 14"/>
          <p:cNvSpPr/>
          <p:nvPr/>
        </p:nvSpPr>
        <p:spPr>
          <a:xfrm>
            <a:off x="7284568" y="2331720"/>
            <a:ext cx="4084168"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 new attack class: “Agentjacking”</a:t>
            </a:r>
            <a:endParaRPr lang="en-US" sz="1200" dirty="0"/>
          </a:p>
        </p:txBody>
      </p:sp>
      <p:sp>
        <p:nvSpPr>
          <p:cNvPr id="19" name="Text 15"/>
          <p:cNvSpPr/>
          <p:nvPr/>
        </p:nvSpPr>
        <p:spPr>
          <a:xfrm>
            <a:off x="6598768" y="2834640"/>
            <a:ext cx="4724248" cy="1463040"/>
          </a:xfrm>
          <a:prstGeom prst="rect">
            <a:avLst/>
          </a:prstGeom>
          <a:noFill/>
          <a:ln/>
        </p:spPr>
        <p:txBody>
          <a:bodyPr wrap="square" lIns="0" tIns="0" rIns="0" bIns="0" rtlCol="0" anchor="t"/>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Attackers craft fake Sentry error reports containing hidden markdown instructions. AI coding agents read the fake report as legitimate debugging guidance and execute the attacker's commands.</a:t>
            </a:r>
            <a:endParaRPr lang="en-US" sz="1200" dirty="0"/>
          </a:p>
        </p:txBody>
      </p:sp>
      <p:sp>
        <p:nvSpPr>
          <p:cNvPr id="20" name="Text 16"/>
          <p:cNvSpPr/>
          <p:nvPr/>
        </p:nvSpPr>
        <p:spPr>
          <a:xfrm>
            <a:off x="6598768" y="4434840"/>
            <a:ext cx="4724248" cy="594360"/>
          </a:xfrm>
          <a:prstGeom prst="rect">
            <a:avLst/>
          </a:prstGeom>
          <a:noFill/>
          <a:ln/>
        </p:spPr>
        <p:txBody>
          <a:bodyPr wrap="square" lIns="0" tIns="0" rIns="0" bIns="0" rtlCol="0" anchor="t"/>
          <a:lstStyle/>
          <a:p>
            <a:pPr marL="0" indent="0">
              <a:lnSpc>
                <a:spcPct val="115000"/>
              </a:lnSpc>
              <a:buNone/>
            </a:pPr>
            <a:r>
              <a:rPr lang="en-US" sz="1150" i="1" dirty="0">
                <a:solidFill>
                  <a:srgbClr val="1E293B"/>
                </a:solidFill>
                <a:latin typeface="Calibri" pitchFamily="34" charset="0"/>
                <a:ea typeface="Calibri" pitchFamily="34" charset="-122"/>
                <a:cs typeface="Calibri" pitchFamily="34" charset="-120"/>
              </a:rPr>
              <a:t>It targets the growing population of autonomous coding agents that trust tool output by default.</a:t>
            </a:r>
            <a:endParaRPr lang="en-US" sz="1150" dirty="0"/>
          </a:p>
        </p:txBody>
      </p:sp>
      <p:sp>
        <p:nvSpPr>
          <p:cNvPr id="21" name="Text 17"/>
          <p:cNvSpPr/>
          <p:nvPr/>
        </p:nvSpPr>
        <p:spPr>
          <a:xfrm>
            <a:off x="548640" y="6080760"/>
            <a:ext cx="11094415"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Takeaway:  the same week AI models proved they can out-audit human security teams, researchers proved AI agents are also a brand-new target.</a:t>
            </a:r>
            <a:endParaRPr lang="en-US" sz="1200" dirty="0"/>
          </a:p>
        </p:txBody>
      </p:sp>
      <p:sp>
        <p:nvSpPr>
          <p:cNvPr id="23" name="Text 18"/>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MARKET &amp; BUSINESS</a:t>
            </a:r>
            <a:endParaRPr lang="en-US" sz="13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Money and momentum shifted</a:t>
            </a:r>
            <a:endParaRPr lang="en-US" sz="2800" dirty="0"/>
          </a:p>
        </p:txBody>
      </p:sp>
      <p:sp>
        <p:nvSpPr>
          <p:cNvPr id="4" name="Shape 2"/>
          <p:cNvSpPr/>
          <p:nvPr/>
        </p:nvSpPr>
        <p:spPr>
          <a:xfrm>
            <a:off x="548640" y="1417320"/>
            <a:ext cx="4206240" cy="3566160"/>
          </a:xfrm>
          <a:prstGeom prst="roundRect">
            <a:avLst>
              <a:gd name="adj" fmla="val 2051"/>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5" name="Text 3"/>
          <p:cNvSpPr/>
          <p:nvPr/>
        </p:nvSpPr>
        <p:spPr>
          <a:xfrm>
            <a:off x="822960" y="1600200"/>
            <a:ext cx="365760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Global AI assistant market share</a:t>
            </a:r>
            <a:endParaRPr lang="en-US" sz="1300" dirty="0"/>
          </a:p>
        </p:txBody>
      </p:sp>
      <p:graphicFrame>
        <p:nvGraphicFramePr>
          <p:cNvPr id="6" name="Chart 0"/>
          <p:cNvGraphicFramePr/>
          <p:nvPr/>
        </p:nvGraphicFramePr>
        <p:xfrm>
          <a:off x="868680" y="2011680"/>
          <a:ext cx="356616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822960" y="4389120"/>
            <a:ext cx="3657600" cy="502920"/>
          </a:xfrm>
          <a:prstGeom prst="rect">
            <a:avLst/>
          </a:prstGeom>
          <a:noFill/>
          <a:ln/>
        </p:spPr>
        <p:txBody>
          <a:bodyPr wrap="square" lIns="0" tIns="0" rIns="0" bIns="0" rtlCol="0" anchor="t"/>
          <a:lstStyle/>
          <a:p>
            <a:pPr marL="0" indent="0">
              <a:buNone/>
            </a:pPr>
            <a:r>
              <a:rPr lang="en-US" sz="1050" i="1" dirty="0">
                <a:solidFill>
                  <a:srgbClr val="64748B"/>
                </a:solidFill>
                <a:latin typeface="Calibri" pitchFamily="34" charset="0"/>
                <a:ea typeface="Calibri" pitchFamily="34" charset="-122"/>
                <a:cs typeface="Calibri" pitchFamily="34" charset="-120"/>
              </a:rPr>
              <a:t>June 22: ChatGPT drops below 50% share for the first time, per Sensor Tower.</a:t>
            </a:r>
            <a:endParaRPr lang="en-US" sz="1050" dirty="0"/>
          </a:p>
        </p:txBody>
      </p:sp>
      <p:sp>
        <p:nvSpPr>
          <p:cNvPr id="8" name="Shape 5"/>
          <p:cNvSpPr/>
          <p:nvPr/>
        </p:nvSpPr>
        <p:spPr>
          <a:xfrm>
            <a:off x="5120640" y="1417320"/>
            <a:ext cx="6522415" cy="1645920"/>
          </a:xfrm>
          <a:prstGeom prst="roundRect">
            <a:avLst>
              <a:gd name="adj" fmla="val 4444"/>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9" name="Text 6"/>
          <p:cNvSpPr/>
          <p:nvPr/>
        </p:nvSpPr>
        <p:spPr>
          <a:xfrm>
            <a:off x="5394960" y="1600200"/>
            <a:ext cx="5973775"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June 23 to 26: global AI stock selloff</a:t>
            </a:r>
            <a:endParaRPr lang="en-US" sz="1300" dirty="0"/>
          </a:p>
        </p:txBody>
      </p:sp>
      <p:sp>
        <p:nvSpPr>
          <p:cNvPr id="10" name="Text 7"/>
          <p:cNvSpPr/>
          <p:nvPr/>
        </p:nvSpPr>
        <p:spPr>
          <a:xfrm>
            <a:off x="5394960" y="1984248"/>
            <a:ext cx="5973775" cy="914400"/>
          </a:xfrm>
          <a:prstGeom prst="rect">
            <a:avLst/>
          </a:prstGeom>
          <a:noFill/>
          <a:ln/>
        </p:spPr>
        <p:txBody>
          <a:bodyPr wrap="square" lIns="0" tIns="0" rIns="0" bIns="0" rtlCol="0" anchor="t"/>
          <a:lstStyle/>
          <a:p>
            <a:pPr marL="0" indent="0">
              <a:lnSpc>
                <a:spcPct val="112000"/>
              </a:lnSpc>
              <a:buNone/>
            </a:pPr>
            <a:r>
              <a:rPr lang="en-US" sz="1150" dirty="0">
                <a:solidFill>
                  <a:srgbClr val="1E293B"/>
                </a:solidFill>
                <a:latin typeface="Calibri" pitchFamily="34" charset="0"/>
                <a:ea typeface="Calibri" pitchFamily="34" charset="-122"/>
                <a:cs typeface="Calibri" pitchFamily="34" charset="-120"/>
              </a:rPr>
              <a:t>Bubble fears hit tech stocks hard: the Nasdaq fell over 2%, South Korea's KOSPI halted trading twice as Samsung and SK Hynix dropped 12% in a morning, and Oracle logged its worst week since the dot-com crash.</a:t>
            </a:r>
            <a:endParaRPr lang="en-US" sz="1150" dirty="0"/>
          </a:p>
        </p:txBody>
      </p:sp>
      <p:sp>
        <p:nvSpPr>
          <p:cNvPr id="11" name="Shape 8"/>
          <p:cNvSpPr/>
          <p:nvPr/>
        </p:nvSpPr>
        <p:spPr>
          <a:xfrm>
            <a:off x="5120640" y="3337560"/>
            <a:ext cx="6522415" cy="1645920"/>
          </a:xfrm>
          <a:prstGeom prst="roundRect">
            <a:avLst>
              <a:gd name="adj" fmla="val 4444"/>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12" name="Text 9"/>
          <p:cNvSpPr/>
          <p:nvPr/>
        </p:nvSpPr>
        <p:spPr>
          <a:xfrm>
            <a:off x="5394960" y="3520440"/>
            <a:ext cx="5973775"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IPO timelines are diverging</a:t>
            </a:r>
            <a:endParaRPr lang="en-US" sz="1300" dirty="0"/>
          </a:p>
        </p:txBody>
      </p:sp>
      <p:sp>
        <p:nvSpPr>
          <p:cNvPr id="13" name="Text 10"/>
          <p:cNvSpPr/>
          <p:nvPr/>
        </p:nvSpPr>
        <p:spPr>
          <a:xfrm>
            <a:off x="5394960" y="3904488"/>
            <a:ext cx="5973775" cy="914400"/>
          </a:xfrm>
          <a:prstGeom prst="rect">
            <a:avLst/>
          </a:prstGeom>
          <a:noFill/>
          <a:ln/>
        </p:spPr>
        <p:txBody>
          <a:bodyPr wrap="square" lIns="0" tIns="0" rIns="0" bIns="0" rtlCol="0" anchor="t"/>
          <a:lstStyle/>
          <a:p>
            <a:pPr marL="0" indent="0">
              <a:lnSpc>
                <a:spcPct val="112000"/>
              </a:lnSpc>
              <a:buNone/>
            </a:pPr>
            <a:r>
              <a:rPr lang="en-US" sz="1150" dirty="0">
                <a:solidFill>
                  <a:srgbClr val="1E293B"/>
                </a:solidFill>
                <a:latin typeface="Calibri" pitchFamily="34" charset="0"/>
                <a:ea typeface="Calibri" pitchFamily="34" charset="-122"/>
                <a:cs typeface="Calibri" pitchFamily="34" charset="-120"/>
              </a:rPr>
              <a:t>Bloomberg (June 26): OpenAI's listing may slip to 2027 amid market volatility and a reported $1 trillion valuation floor, while Anthropic still targets an October 2026 Nasdaq debut.</a:t>
            </a:r>
            <a:endParaRPr lang="en-US" sz="1150" dirty="0"/>
          </a:p>
        </p:txBody>
      </p:sp>
      <p:sp>
        <p:nvSpPr>
          <p:cNvPr id="14" name="Text 11"/>
          <p:cNvSpPr/>
          <p:nvPr/>
        </p:nvSpPr>
        <p:spPr>
          <a:xfrm>
            <a:off x="548640" y="5212080"/>
            <a:ext cx="11094415"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Takeaway:  the AI trade hit real turbulence this period, in usage share, in public markets, and in IPO confidence.</a:t>
            </a:r>
            <a:endParaRPr lang="en-US" sz="1200" dirty="0"/>
          </a:p>
        </p:txBody>
      </p:sp>
      <p:sp>
        <p:nvSpPr>
          <p:cNvPr id="16" name="Text 12"/>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TALENT &amp; THE ECONOMY</a:t>
            </a:r>
            <a:endParaRPr lang="en-US" sz="13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People moved, and the data got weird</a:t>
            </a:r>
            <a:endParaRPr lang="en-US" sz="2800" dirty="0"/>
          </a:p>
        </p:txBody>
      </p:sp>
      <p:sp>
        <p:nvSpPr>
          <p:cNvPr id="4" name="Shape 2"/>
          <p:cNvSpPr/>
          <p:nvPr/>
        </p:nvSpPr>
        <p:spPr>
          <a:xfrm>
            <a:off x="548640" y="1463040"/>
            <a:ext cx="5364328" cy="3566160"/>
          </a:xfrm>
          <a:prstGeom prst="roundRect">
            <a:avLst>
              <a:gd name="adj" fmla="val 2051"/>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5" name="Shape 3"/>
          <p:cNvSpPr/>
          <p:nvPr/>
        </p:nvSpPr>
        <p:spPr>
          <a:xfrm>
            <a:off x="868680" y="1783080"/>
            <a:ext cx="548640" cy="548640"/>
          </a:xfrm>
          <a:prstGeom prst="ellipse">
            <a:avLst/>
          </a:prstGeom>
          <a:solidFill>
            <a:srgbClr val="1E2761"/>
          </a:solidFill>
          <a:ln/>
        </p:spPr>
        <p:txBody>
          <a:bodyPr/>
          <a:lstStyle/>
          <a:p>
            <a:endParaRPr lang="en-BJ"/>
          </a:p>
        </p:txBody>
      </p:sp>
      <p:pic>
        <p:nvPicPr>
          <p:cNvPr id="6" name="Image 0" descr="preencoded.png"/>
          <p:cNvPicPr>
            <a:picLocks noChangeAspect="1"/>
          </p:cNvPicPr>
          <p:nvPr/>
        </p:nvPicPr>
        <p:blipFill>
          <a:blip r:embed="rId3"/>
          <a:stretch>
            <a:fillRect/>
          </a:stretch>
        </p:blipFill>
        <p:spPr>
          <a:xfrm>
            <a:off x="945490" y="1859890"/>
            <a:ext cx="395021" cy="395021"/>
          </a:xfrm>
          <a:prstGeom prst="rect">
            <a:avLst/>
          </a:prstGeom>
        </p:spPr>
      </p:pic>
      <p:sp>
        <p:nvSpPr>
          <p:cNvPr id="7" name="Text 4"/>
          <p:cNvSpPr/>
          <p:nvPr/>
        </p:nvSpPr>
        <p:spPr>
          <a:xfrm>
            <a:off x="1554480" y="1828800"/>
            <a:ext cx="4084168" cy="274320"/>
          </a:xfrm>
          <a:prstGeom prst="rect">
            <a:avLst/>
          </a:prstGeom>
          <a:noFill/>
          <a:ln/>
        </p:spPr>
        <p:txBody>
          <a:bodyPr wrap="square" lIns="0" tIns="0" rIns="0" bIns="0" rtlCol="0" anchor="ctr"/>
          <a:lstStyle/>
          <a:p>
            <a:pPr marL="0" indent="0">
              <a:buNone/>
            </a:pPr>
            <a:r>
              <a:rPr lang="en-US" sz="1200" b="1" dirty="0">
                <a:solidFill>
                  <a:srgbClr val="F2A93B"/>
                </a:solidFill>
                <a:latin typeface="Calibri" pitchFamily="34" charset="0"/>
                <a:ea typeface="Calibri" pitchFamily="34" charset="-122"/>
                <a:cs typeface="Calibri" pitchFamily="34" charset="-120"/>
              </a:rPr>
              <a:t>June 18</a:t>
            </a:r>
            <a:endParaRPr lang="en-US" sz="1200" dirty="0"/>
          </a:p>
        </p:txBody>
      </p:sp>
      <p:sp>
        <p:nvSpPr>
          <p:cNvPr id="8" name="Text 5"/>
          <p:cNvSpPr/>
          <p:nvPr/>
        </p:nvSpPr>
        <p:spPr>
          <a:xfrm>
            <a:off x="1554480" y="2084832"/>
            <a:ext cx="4084168" cy="548640"/>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Shazeer defects to OpenAI</a:t>
            </a:r>
            <a:endParaRPr lang="en-US" sz="1500" dirty="0"/>
          </a:p>
        </p:txBody>
      </p:sp>
      <p:sp>
        <p:nvSpPr>
          <p:cNvPr id="9" name="Text 6"/>
          <p:cNvSpPr/>
          <p:nvPr/>
        </p:nvSpPr>
        <p:spPr>
          <a:xfrm>
            <a:off x="868680" y="2880360"/>
            <a:ext cx="4724248" cy="1280160"/>
          </a:xfrm>
          <a:prstGeom prst="rect">
            <a:avLst/>
          </a:prstGeom>
          <a:noFill/>
          <a:ln/>
        </p:spPr>
        <p:txBody>
          <a:bodyPr wrap="square" lIns="0" tIns="0" rIns="0" bIns="0" rtlCol="0" anchor="t"/>
          <a:lstStyle/>
          <a:p>
            <a:pPr marL="0" indent="0">
              <a:lnSpc>
                <a:spcPct val="120000"/>
              </a:lnSpc>
              <a:buNone/>
            </a:pPr>
            <a:r>
              <a:rPr lang="en-US" sz="1250" dirty="0">
                <a:solidFill>
                  <a:srgbClr val="1E293B"/>
                </a:solidFill>
                <a:latin typeface="Calibri" pitchFamily="34" charset="0"/>
                <a:ea typeface="Calibri" pitchFamily="34" charset="-122"/>
                <a:cs typeface="Calibri" pitchFamily="34" charset="-120"/>
              </a:rPr>
              <a:t>Noam Shazeer, co-author of the original Transformer paper and co-lead of Google's Gemini project, announced he is leaving Google DeepMind to become OpenAI's Lead for Architecture Research. The move dominated AI news coverage through the following week.</a:t>
            </a:r>
            <a:endParaRPr lang="en-US" sz="1250" dirty="0"/>
          </a:p>
        </p:txBody>
      </p:sp>
      <p:sp>
        <p:nvSpPr>
          <p:cNvPr id="10" name="Text 7"/>
          <p:cNvSpPr/>
          <p:nvPr/>
        </p:nvSpPr>
        <p:spPr>
          <a:xfrm>
            <a:off x="868680" y="4251960"/>
            <a:ext cx="4724248" cy="640080"/>
          </a:xfrm>
          <a:prstGeom prst="rect">
            <a:avLst/>
          </a:prstGeom>
          <a:noFill/>
          <a:ln/>
        </p:spPr>
        <p:txBody>
          <a:bodyPr wrap="square" lIns="0" tIns="0" rIns="0" bIns="0" rtlCol="0" anchor="t"/>
          <a:lstStyle/>
          <a:p>
            <a:pPr marL="0" indent="0">
              <a:buNone/>
            </a:pPr>
            <a:r>
              <a:rPr lang="en-US" sz="1100" b="1" dirty="0">
                <a:solidFill>
                  <a:srgbClr val="1E2761"/>
                </a:solidFill>
                <a:latin typeface="Calibri" pitchFamily="34" charset="0"/>
                <a:ea typeface="Calibri" pitchFamily="34" charset="-122"/>
                <a:cs typeface="Calibri" pitchFamily="34" charset="-120"/>
              </a:rPr>
              <a:t>Takeaway:  </a:t>
            </a:r>
            <a:r>
              <a:rPr lang="en-US" sz="1100" i="1" dirty="0">
                <a:solidFill>
                  <a:srgbClr val="1E293B"/>
                </a:solidFill>
                <a:latin typeface="Calibri" pitchFamily="34" charset="0"/>
                <a:ea typeface="Calibri" pitchFamily="34" charset="-122"/>
                <a:cs typeface="Calibri" pitchFamily="34" charset="-120"/>
              </a:rPr>
              <a:t>the AI talent war is now a war of individual superstar researchers, not just teams.</a:t>
            </a:r>
            <a:endParaRPr lang="en-US" sz="1100" dirty="0"/>
          </a:p>
        </p:txBody>
      </p:sp>
      <p:sp>
        <p:nvSpPr>
          <p:cNvPr id="11" name="Shape 8"/>
          <p:cNvSpPr/>
          <p:nvPr/>
        </p:nvSpPr>
        <p:spPr>
          <a:xfrm>
            <a:off x="6278728" y="1463040"/>
            <a:ext cx="5364328" cy="3566160"/>
          </a:xfrm>
          <a:prstGeom prst="roundRect">
            <a:avLst>
              <a:gd name="adj" fmla="val 2051"/>
            </a:avLst>
          </a:prstGeom>
          <a:solidFill>
            <a:srgbClr val="F1F5FC"/>
          </a:solidFill>
          <a:ln/>
          <a:effectLst>
            <a:outerShdw blurRad="127000" dist="38100" dir="5400000" algn="bl" rotWithShape="0">
              <a:srgbClr val="1E2761">
                <a:alpha val="12000"/>
              </a:srgbClr>
            </a:outerShdw>
          </a:effectLst>
        </p:spPr>
        <p:txBody>
          <a:bodyPr/>
          <a:lstStyle/>
          <a:p>
            <a:endParaRPr lang="en-BJ"/>
          </a:p>
        </p:txBody>
      </p:sp>
      <p:sp>
        <p:nvSpPr>
          <p:cNvPr id="12" name="Shape 9"/>
          <p:cNvSpPr/>
          <p:nvPr/>
        </p:nvSpPr>
        <p:spPr>
          <a:xfrm>
            <a:off x="6598768" y="1783080"/>
            <a:ext cx="548640" cy="548640"/>
          </a:xfrm>
          <a:prstGeom prst="ellipse">
            <a:avLst/>
          </a:prstGeom>
          <a:solidFill>
            <a:srgbClr val="1E2761"/>
          </a:solidFill>
          <a:ln/>
        </p:spPr>
        <p:txBody>
          <a:bodyPr/>
          <a:lstStyle/>
          <a:p>
            <a:endParaRPr lang="en-BJ"/>
          </a:p>
        </p:txBody>
      </p:sp>
      <p:pic>
        <p:nvPicPr>
          <p:cNvPr id="13" name="Image 1" descr="preencoded.png"/>
          <p:cNvPicPr>
            <a:picLocks noChangeAspect="1"/>
          </p:cNvPicPr>
          <p:nvPr/>
        </p:nvPicPr>
        <p:blipFill>
          <a:blip r:embed="rId4"/>
          <a:stretch>
            <a:fillRect/>
          </a:stretch>
        </p:blipFill>
        <p:spPr>
          <a:xfrm>
            <a:off x="6675577" y="1859890"/>
            <a:ext cx="395021" cy="395021"/>
          </a:xfrm>
          <a:prstGeom prst="rect">
            <a:avLst/>
          </a:prstGeom>
        </p:spPr>
      </p:pic>
      <p:sp>
        <p:nvSpPr>
          <p:cNvPr id="14" name="Text 10"/>
          <p:cNvSpPr/>
          <p:nvPr/>
        </p:nvSpPr>
        <p:spPr>
          <a:xfrm>
            <a:off x="7284568" y="1828800"/>
            <a:ext cx="4084168" cy="274320"/>
          </a:xfrm>
          <a:prstGeom prst="rect">
            <a:avLst/>
          </a:prstGeom>
          <a:noFill/>
          <a:ln/>
        </p:spPr>
        <p:txBody>
          <a:bodyPr wrap="square" lIns="0" tIns="0" rIns="0" bIns="0" rtlCol="0" anchor="ctr"/>
          <a:lstStyle/>
          <a:p>
            <a:pPr marL="0" indent="0">
              <a:buNone/>
            </a:pPr>
            <a:r>
              <a:rPr lang="en-US" sz="1200" b="1" dirty="0">
                <a:solidFill>
                  <a:srgbClr val="F2A93B"/>
                </a:solidFill>
                <a:latin typeface="Calibri" pitchFamily="34" charset="0"/>
                <a:ea typeface="Calibri" pitchFamily="34" charset="-122"/>
                <a:cs typeface="Calibri" pitchFamily="34" charset="-120"/>
              </a:rPr>
              <a:t>July 3</a:t>
            </a:r>
            <a:endParaRPr lang="en-US" sz="1200" dirty="0"/>
          </a:p>
        </p:txBody>
      </p:sp>
      <p:sp>
        <p:nvSpPr>
          <p:cNvPr id="15" name="Text 11"/>
          <p:cNvSpPr/>
          <p:nvPr/>
        </p:nvSpPr>
        <p:spPr>
          <a:xfrm>
            <a:off x="7284568" y="2084832"/>
            <a:ext cx="4084168" cy="548640"/>
          </a:xfrm>
          <a:prstGeom prst="rect">
            <a:avLst/>
          </a:prstGeom>
          <a:noFill/>
          <a:ln/>
        </p:spPr>
        <p:txBody>
          <a:bodyPr wrap="square" lIns="0" tIns="0" rIns="0" bIns="0" rtlCol="0" anchor="t"/>
          <a:lstStyle/>
          <a:p>
            <a:pPr marL="0" indent="0">
              <a:buNone/>
            </a:pPr>
            <a:r>
              <a:rPr lang="en-US" sz="1500" b="1" dirty="0">
                <a:solidFill>
                  <a:srgbClr val="1E2761"/>
                </a:solidFill>
                <a:latin typeface="Calibri" pitchFamily="34" charset="0"/>
                <a:ea typeface="Calibri" pitchFamily="34" charset="-122"/>
                <a:cs typeface="Calibri" pitchFamily="34" charset="-120"/>
              </a:rPr>
              <a:t>US jobs report misses badly</a:t>
            </a:r>
            <a:endParaRPr lang="en-US" sz="1500" dirty="0"/>
          </a:p>
        </p:txBody>
      </p:sp>
      <p:sp>
        <p:nvSpPr>
          <p:cNvPr id="16" name="Text 12"/>
          <p:cNvSpPr/>
          <p:nvPr/>
        </p:nvSpPr>
        <p:spPr>
          <a:xfrm>
            <a:off x="6598768" y="2880360"/>
            <a:ext cx="4724248" cy="1188720"/>
          </a:xfrm>
          <a:prstGeom prst="rect">
            <a:avLst/>
          </a:prstGeom>
          <a:noFill/>
          <a:ln/>
        </p:spPr>
        <p:txBody>
          <a:bodyPr wrap="square" lIns="0" tIns="0" rIns="0" bIns="0" rtlCol="0" anchor="t"/>
          <a:lstStyle/>
          <a:p>
            <a:pPr marL="0" indent="0">
              <a:lnSpc>
                <a:spcPct val="120000"/>
              </a:lnSpc>
              <a:buNone/>
            </a:pPr>
            <a:r>
              <a:rPr lang="en-US" sz="1250" dirty="0">
                <a:solidFill>
                  <a:srgbClr val="1E293B"/>
                </a:solidFill>
                <a:latin typeface="Calibri" pitchFamily="34" charset="0"/>
                <a:ea typeface="Calibri" pitchFamily="34" charset="-122"/>
                <a:cs typeface="Calibri" pitchFamily="34" charset="-120"/>
              </a:rPr>
              <a:t>The Bureau of Labor Statistics reported only 57,000 jobs added in June, far below the 185,000 consensus estimate and the weakest monthly addition since the 2024 slowdown.</a:t>
            </a:r>
            <a:endParaRPr lang="en-US" sz="1250" dirty="0"/>
          </a:p>
        </p:txBody>
      </p:sp>
      <p:sp>
        <p:nvSpPr>
          <p:cNvPr id="17" name="Text 13"/>
          <p:cNvSpPr/>
          <p:nvPr/>
        </p:nvSpPr>
        <p:spPr>
          <a:xfrm>
            <a:off x="6598768" y="4251960"/>
            <a:ext cx="4724248" cy="640080"/>
          </a:xfrm>
          <a:prstGeom prst="rect">
            <a:avLst/>
          </a:prstGeom>
          <a:noFill/>
          <a:ln/>
        </p:spPr>
        <p:txBody>
          <a:bodyPr wrap="square" lIns="0" tIns="0" rIns="0" bIns="0" rtlCol="0" anchor="t"/>
          <a:lstStyle/>
          <a:p>
            <a:pPr marL="0" indent="0">
              <a:buNone/>
            </a:pPr>
            <a:r>
              <a:rPr lang="en-US" sz="1100" b="1" dirty="0">
                <a:solidFill>
                  <a:srgbClr val="1E2761"/>
                </a:solidFill>
                <a:latin typeface="Calibri" pitchFamily="34" charset="0"/>
                <a:ea typeface="Calibri" pitchFamily="34" charset="-122"/>
                <a:cs typeface="Calibri" pitchFamily="34" charset="-120"/>
              </a:rPr>
              <a:t>Takeaway:  </a:t>
            </a:r>
            <a:r>
              <a:rPr lang="en-US" sz="1100" i="1" dirty="0">
                <a:solidFill>
                  <a:srgbClr val="1E293B"/>
                </a:solidFill>
                <a:latin typeface="Calibri" pitchFamily="34" charset="0"/>
                <a:ea typeface="Calibri" pitchFamily="34" charset="-122"/>
                <a:cs typeface="Calibri" pitchFamily="34" charset="-120"/>
              </a:rPr>
              <a:t>adds fuel to the debate over whether AI-driven automation is already showing up in labor data.</a:t>
            </a:r>
            <a:endParaRPr lang="en-US" sz="1100" dirty="0"/>
          </a:p>
        </p:txBody>
      </p:sp>
      <p:sp>
        <p:nvSpPr>
          <p:cNvPr id="19" name="Text 14"/>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CADCFC"/>
          </a:solidFill>
          <a:ln/>
        </p:spPr>
        <p:txBody>
          <a:bodyPr/>
          <a:lstStyle/>
          <a:p>
            <a:endParaRPr lang="en-BJ"/>
          </a:p>
        </p:txBody>
      </p:sp>
      <p:pic>
        <p:nvPicPr>
          <p:cNvPr id="3" name="Image 0" descr="preencoded.png"/>
          <p:cNvPicPr>
            <a:picLocks noChangeAspect="1"/>
          </p:cNvPicPr>
          <p:nvPr/>
        </p:nvPicPr>
        <p:blipFill>
          <a:blip r:embed="rId3"/>
          <a:stretch>
            <a:fillRect/>
          </a:stretch>
        </p:blipFill>
        <p:spPr>
          <a:xfrm>
            <a:off x="625450" y="534010"/>
            <a:ext cx="395021" cy="395021"/>
          </a:xfrm>
          <a:prstGeom prst="rect">
            <a:avLst/>
          </a:prstGeom>
        </p:spPr>
      </p:pic>
      <p:sp>
        <p:nvSpPr>
          <p:cNvPr id="4" name="Text 1"/>
          <p:cNvSpPr/>
          <p:nvPr/>
        </p:nvSpPr>
        <p:spPr>
          <a:xfrm>
            <a:off x="1234440" y="411480"/>
            <a:ext cx="7315200" cy="32004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SOURCES</a:t>
            </a:r>
            <a:endParaRPr lang="en-US" sz="1300" dirty="0"/>
          </a:p>
        </p:txBody>
      </p:sp>
      <p:sp>
        <p:nvSpPr>
          <p:cNvPr id="5" name="Text 2"/>
          <p:cNvSpPr/>
          <p:nvPr/>
        </p:nvSpPr>
        <p:spPr>
          <a:xfrm>
            <a:off x="1234440" y="685800"/>
            <a:ext cx="914400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Full list of links referenced in this roundup</a:t>
            </a:r>
            <a:endParaRPr lang="en-US" sz="2200" dirty="0"/>
          </a:p>
        </p:txBody>
      </p:sp>
      <p:sp>
        <p:nvSpPr>
          <p:cNvPr id="6" name="Text 3"/>
          <p:cNvSpPr/>
          <p:nvPr/>
        </p:nvSpPr>
        <p:spPr>
          <a:xfrm>
            <a:off x="548640" y="1417320"/>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
        <p:nvSpPr>
          <p:cNvPr id="7" name="Text 4">
            <a:hlinkClick r:id="" action="ppaction://noaction"/>
          </p:cNvPr>
          <p:cNvSpPr/>
          <p:nvPr/>
        </p:nvSpPr>
        <p:spPr>
          <a:xfrm>
            <a:off x="868680" y="1417320"/>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Anthropic export controls lifted, Fable 5 and Mythos 5 restored</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cnbc.com/2026/06/30</a:t>
            </a:r>
            <a:endParaRPr lang="en-US" sz="1050" dirty="0"/>
          </a:p>
        </p:txBody>
      </p:sp>
      <p:sp>
        <p:nvSpPr>
          <p:cNvPr id="8" name="Text 5"/>
          <p:cNvSpPr/>
          <p:nvPr/>
        </p:nvSpPr>
        <p:spPr>
          <a:xfrm>
            <a:off x="6324448" y="1417320"/>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2.</a:t>
            </a:r>
            <a:endParaRPr lang="en-US" sz="1100" dirty="0"/>
          </a:p>
        </p:txBody>
      </p:sp>
      <p:sp>
        <p:nvSpPr>
          <p:cNvPr id="9" name="Text 6">
            <a:hlinkClick r:id="" action="ppaction://noaction"/>
          </p:cNvPr>
          <p:cNvSpPr/>
          <p:nvPr/>
        </p:nvSpPr>
        <p:spPr>
          <a:xfrm>
            <a:off x="6644488" y="1417320"/>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US allows limited release of Anthropic's Mythos model</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semafor.com/article/06/27/2026</a:t>
            </a:r>
            <a:endParaRPr lang="en-US" sz="1050" dirty="0"/>
          </a:p>
        </p:txBody>
      </p:sp>
      <p:sp>
        <p:nvSpPr>
          <p:cNvPr id="10" name="Text 7"/>
          <p:cNvSpPr/>
          <p:nvPr/>
        </p:nvSpPr>
        <p:spPr>
          <a:xfrm>
            <a:off x="548640" y="2075688"/>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3.</a:t>
            </a:r>
            <a:endParaRPr lang="en-US" sz="1100" dirty="0"/>
          </a:p>
        </p:txBody>
      </p:sp>
      <p:sp>
        <p:nvSpPr>
          <p:cNvPr id="11" name="Text 8">
            <a:hlinkClick r:id="" action="ppaction://noaction"/>
          </p:cNvPr>
          <p:cNvSpPr/>
          <p:nvPr/>
        </p:nvSpPr>
        <p:spPr>
          <a:xfrm>
            <a:off x="868680" y="2075688"/>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US government eases Anthropic cybersecurity-model restrictions</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cnn.com/2026/06/26/tech</a:t>
            </a:r>
            <a:endParaRPr lang="en-US" sz="1050" dirty="0"/>
          </a:p>
        </p:txBody>
      </p:sp>
      <p:sp>
        <p:nvSpPr>
          <p:cNvPr id="12" name="Text 9"/>
          <p:cNvSpPr/>
          <p:nvPr/>
        </p:nvSpPr>
        <p:spPr>
          <a:xfrm>
            <a:off x="6324448" y="2075688"/>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
        <p:nvSpPr>
          <p:cNvPr id="13" name="Text 10">
            <a:hlinkClick r:id="" action="ppaction://noaction"/>
          </p:cNvPr>
          <p:cNvSpPr/>
          <p:nvPr/>
        </p:nvSpPr>
        <p:spPr>
          <a:xfrm>
            <a:off x="6644488" y="2075688"/>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OpenAI and Anthropic face new AI spending reality</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cnbc.com/2026/06/26</a:t>
            </a:r>
            <a:endParaRPr lang="en-US" sz="1050" dirty="0"/>
          </a:p>
        </p:txBody>
      </p:sp>
      <p:sp>
        <p:nvSpPr>
          <p:cNvPr id="14" name="Text 11"/>
          <p:cNvSpPr/>
          <p:nvPr/>
        </p:nvSpPr>
        <p:spPr>
          <a:xfrm>
            <a:off x="548640" y="2734056"/>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5.</a:t>
            </a:r>
            <a:endParaRPr lang="en-US" sz="1100" dirty="0"/>
          </a:p>
        </p:txBody>
      </p:sp>
      <p:sp>
        <p:nvSpPr>
          <p:cNvPr id="15" name="Text 12">
            <a:hlinkClick r:id="" action="ppaction://noaction"/>
          </p:cNvPr>
          <p:cNvSpPr/>
          <p:nvPr/>
        </p:nvSpPr>
        <p:spPr>
          <a:xfrm>
            <a:off x="868680" y="2734056"/>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OpenAI announces Jalapeno custom AI chip with Broadcom</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cnn.com/2026/06/24/tech</a:t>
            </a:r>
            <a:endParaRPr lang="en-US" sz="1050" dirty="0"/>
          </a:p>
        </p:txBody>
      </p:sp>
      <p:sp>
        <p:nvSpPr>
          <p:cNvPr id="16" name="Text 13"/>
          <p:cNvSpPr/>
          <p:nvPr/>
        </p:nvSpPr>
        <p:spPr>
          <a:xfrm>
            <a:off x="6324448" y="2734056"/>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6.</a:t>
            </a:r>
            <a:endParaRPr lang="en-US" sz="1100" dirty="0"/>
          </a:p>
        </p:txBody>
      </p:sp>
      <p:sp>
        <p:nvSpPr>
          <p:cNvPr id="17" name="Text 14">
            <a:hlinkClick r:id="" action="ppaction://noaction"/>
          </p:cNvPr>
          <p:cNvSpPr/>
          <p:nvPr/>
        </p:nvSpPr>
        <p:spPr>
          <a:xfrm>
            <a:off x="6644488" y="2734056"/>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OpenAI files confidentially for IPO, following Anthropic</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techcrunch.com/2026/06/08</a:t>
            </a:r>
            <a:endParaRPr lang="en-US" sz="1050" dirty="0"/>
          </a:p>
        </p:txBody>
      </p:sp>
      <p:sp>
        <p:nvSpPr>
          <p:cNvPr id="18" name="Text 15"/>
          <p:cNvSpPr/>
          <p:nvPr/>
        </p:nvSpPr>
        <p:spPr>
          <a:xfrm>
            <a:off x="548640" y="3392424"/>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7.</a:t>
            </a:r>
            <a:endParaRPr lang="en-US" sz="1100" dirty="0"/>
          </a:p>
        </p:txBody>
      </p:sp>
      <p:sp>
        <p:nvSpPr>
          <p:cNvPr id="19" name="Text 16">
            <a:hlinkClick r:id="" action="ppaction://noaction"/>
          </p:cNvPr>
          <p:cNvSpPr/>
          <p:nvPr/>
        </p:nvSpPr>
        <p:spPr>
          <a:xfrm>
            <a:off x="868680" y="3392424"/>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Google Gemini co-lead Noam Shazeer leaves for OpenAI</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cnbc.com/2026/06/18</a:t>
            </a:r>
            <a:endParaRPr lang="en-US" sz="1050" dirty="0"/>
          </a:p>
        </p:txBody>
      </p:sp>
      <p:sp>
        <p:nvSpPr>
          <p:cNvPr id="20" name="Text 17"/>
          <p:cNvSpPr/>
          <p:nvPr/>
        </p:nvSpPr>
        <p:spPr>
          <a:xfrm>
            <a:off x="6324448" y="3392424"/>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8.</a:t>
            </a:r>
            <a:endParaRPr lang="en-US" sz="1100" dirty="0"/>
          </a:p>
        </p:txBody>
      </p:sp>
      <p:sp>
        <p:nvSpPr>
          <p:cNvPr id="21" name="Text 18">
            <a:hlinkClick r:id="" action="ppaction://noaction"/>
          </p:cNvPr>
          <p:cNvSpPr/>
          <p:nvPr/>
        </p:nvSpPr>
        <p:spPr>
          <a:xfrm>
            <a:off x="6644488" y="3392424"/>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EU approves delays to certain AI Act obligations</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morganlewis.com/pubs/2026/06</a:t>
            </a:r>
            <a:endParaRPr lang="en-US" sz="1050" dirty="0"/>
          </a:p>
        </p:txBody>
      </p:sp>
      <p:sp>
        <p:nvSpPr>
          <p:cNvPr id="22" name="Text 19"/>
          <p:cNvSpPr/>
          <p:nvPr/>
        </p:nvSpPr>
        <p:spPr>
          <a:xfrm>
            <a:off x="548640" y="4050792"/>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9.</a:t>
            </a:r>
            <a:endParaRPr lang="en-US" sz="1100" dirty="0"/>
          </a:p>
        </p:txBody>
      </p:sp>
      <p:sp>
        <p:nvSpPr>
          <p:cNvPr id="23" name="Text 20">
            <a:hlinkClick r:id="" action="ppaction://noaction"/>
          </p:cNvPr>
          <p:cNvSpPr/>
          <p:nvPr/>
        </p:nvSpPr>
        <p:spPr>
          <a:xfrm>
            <a:off x="868680" y="4050792"/>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AI boom may be in its final, blow-off stage</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fortune.com/2026/06/26</a:t>
            </a:r>
            <a:endParaRPr lang="en-US" sz="1050" dirty="0"/>
          </a:p>
        </p:txBody>
      </p:sp>
      <p:sp>
        <p:nvSpPr>
          <p:cNvPr id="24" name="Text 21"/>
          <p:cNvSpPr/>
          <p:nvPr/>
        </p:nvSpPr>
        <p:spPr>
          <a:xfrm>
            <a:off x="6324448" y="4050792"/>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10.</a:t>
            </a:r>
            <a:endParaRPr lang="en-US" sz="1100" dirty="0"/>
          </a:p>
        </p:txBody>
      </p:sp>
      <p:sp>
        <p:nvSpPr>
          <p:cNvPr id="25" name="Text 22">
            <a:hlinkClick r:id="" action="ppaction://noaction"/>
          </p:cNvPr>
          <p:cNvSpPr/>
          <p:nvPr/>
        </p:nvSpPr>
        <p:spPr>
          <a:xfrm>
            <a:off x="6644488" y="4050792"/>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AI News Today, June 22 2026: 15 biggest stories</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buildfastwithai.com/blogs/ai-news-today-june-22-2026</a:t>
            </a:r>
            <a:endParaRPr lang="en-US" sz="1050" dirty="0"/>
          </a:p>
        </p:txBody>
      </p:sp>
      <p:sp>
        <p:nvSpPr>
          <p:cNvPr id="26" name="Text 23"/>
          <p:cNvSpPr/>
          <p:nvPr/>
        </p:nvSpPr>
        <p:spPr>
          <a:xfrm>
            <a:off x="548640" y="4709160"/>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11.</a:t>
            </a:r>
            <a:endParaRPr lang="en-US" sz="1100" dirty="0"/>
          </a:p>
        </p:txBody>
      </p:sp>
      <p:sp>
        <p:nvSpPr>
          <p:cNvPr id="27" name="Text 24">
            <a:hlinkClick r:id="" action="ppaction://noaction"/>
          </p:cNvPr>
          <p:cNvSpPr/>
          <p:nvPr/>
        </p:nvSpPr>
        <p:spPr>
          <a:xfrm>
            <a:off x="868680" y="4709160"/>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Daily AI News, top stories for June 20 2026</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buttondown.com/metasignal/archive</a:t>
            </a:r>
            <a:endParaRPr lang="en-US" sz="1050" dirty="0"/>
          </a:p>
        </p:txBody>
      </p:sp>
      <p:sp>
        <p:nvSpPr>
          <p:cNvPr id="28" name="Text 25"/>
          <p:cNvSpPr/>
          <p:nvPr/>
        </p:nvSpPr>
        <p:spPr>
          <a:xfrm>
            <a:off x="6324448" y="4709160"/>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12.</a:t>
            </a:r>
            <a:endParaRPr lang="en-US" sz="1100" dirty="0"/>
          </a:p>
        </p:txBody>
      </p:sp>
      <p:sp>
        <p:nvSpPr>
          <p:cNvPr id="29" name="Text 26">
            <a:hlinkClick r:id="" action="ppaction://noaction"/>
          </p:cNvPr>
          <p:cNvSpPr/>
          <p:nvPr/>
        </p:nvSpPr>
        <p:spPr>
          <a:xfrm>
            <a:off x="6644488" y="4709160"/>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AI News Today, July 3 2026: 15 biggest stories</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buildfastwithai.com/blogs/ai-news-today-july-3-2026</a:t>
            </a:r>
            <a:endParaRPr lang="en-US" sz="1050" dirty="0"/>
          </a:p>
        </p:txBody>
      </p:sp>
      <p:sp>
        <p:nvSpPr>
          <p:cNvPr id="30" name="Text 27"/>
          <p:cNvSpPr/>
          <p:nvPr/>
        </p:nvSpPr>
        <p:spPr>
          <a:xfrm>
            <a:off x="548640" y="5367528"/>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13.</a:t>
            </a:r>
            <a:endParaRPr lang="en-US" sz="1100" dirty="0"/>
          </a:p>
        </p:txBody>
      </p:sp>
      <p:sp>
        <p:nvSpPr>
          <p:cNvPr id="31" name="Text 28">
            <a:hlinkClick r:id="" action="ppaction://noaction"/>
          </p:cNvPr>
          <p:cNvSpPr/>
          <p:nvPr/>
        </p:nvSpPr>
        <p:spPr>
          <a:xfrm>
            <a:off x="868680" y="5367528"/>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AI News Today, July 1 2026: 15 biggest stories</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buildfastwithai.com/blogs/ai-news-today-july-1-2026</a:t>
            </a:r>
            <a:endParaRPr lang="en-US" sz="1050" dirty="0"/>
          </a:p>
        </p:txBody>
      </p:sp>
      <p:sp>
        <p:nvSpPr>
          <p:cNvPr id="32" name="Text 29"/>
          <p:cNvSpPr/>
          <p:nvPr/>
        </p:nvSpPr>
        <p:spPr>
          <a:xfrm>
            <a:off x="6324448" y="5367528"/>
            <a:ext cx="320040" cy="566928"/>
          </a:xfrm>
          <a:prstGeom prst="rect">
            <a:avLst/>
          </a:prstGeom>
          <a:noFill/>
          <a:ln/>
        </p:spPr>
        <p:txBody>
          <a:bodyPr wrap="square" lIns="0" tIns="0" rIns="0" bIns="0" rtlCol="0" anchor="t"/>
          <a:lstStyle/>
          <a:p>
            <a:pPr marL="0" indent="0">
              <a:buNone/>
            </a:pPr>
            <a:r>
              <a:rPr lang="en-US" sz="1100" b="1" dirty="0">
                <a:solidFill>
                  <a:srgbClr val="F2A93B"/>
                </a:solidFill>
                <a:latin typeface="Calibri" pitchFamily="34" charset="0"/>
                <a:ea typeface="Calibri" pitchFamily="34" charset="-122"/>
                <a:cs typeface="Calibri" pitchFamily="34" charset="-120"/>
              </a:rPr>
              <a:t>14.</a:t>
            </a:r>
            <a:endParaRPr lang="en-US" sz="1100" dirty="0"/>
          </a:p>
        </p:txBody>
      </p:sp>
      <p:sp>
        <p:nvSpPr>
          <p:cNvPr id="33" name="Text 30">
            <a:hlinkClick r:id="" action="ppaction://noaction"/>
          </p:cNvPr>
          <p:cNvSpPr/>
          <p:nvPr/>
        </p:nvSpPr>
        <p:spPr>
          <a:xfrm>
            <a:off x="6644488" y="5367528"/>
            <a:ext cx="4998568" cy="566928"/>
          </a:xfrm>
          <a:prstGeom prst="rect">
            <a:avLst/>
          </a:prstGeom>
          <a:noFill/>
          <a:ln/>
        </p:spPr>
        <p:txBody>
          <a:bodyPr wrap="square" lIns="0" tIns="0" rIns="0" bIns="0" rtlCol="0" anchor="t"/>
          <a:lstStyle/>
          <a:p>
            <a:pPr marL="0" indent="0">
              <a:buNone/>
            </a:pPr>
            <a:r>
              <a:rPr lang="en-US" sz="1050" b="1" u="sng" dirty="0">
                <a:solidFill>
                  <a:srgbClr val="FFFFFF"/>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Anthropic's AI for Science event recap</a:t>
            </a:r>
            <a:endParaRPr lang="en-US" sz="1050" dirty="0"/>
          </a:p>
          <a:p>
            <a:pPr marL="0" indent="0">
              <a:buNone/>
            </a:pPr>
            <a:r>
              <a:rPr lang="en-US" sz="1050" u="sng" dirty="0">
                <a:solidFill>
                  <a:srgbClr val="9FB4E0"/>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aitoolsrecap.com/Blog/ai-news-june-30-2026</a:t>
            </a:r>
            <a:endParaRPr lang="en-US" sz="1050" dirty="0"/>
          </a:p>
        </p:txBody>
      </p:sp>
      <p:sp>
        <p:nvSpPr>
          <p:cNvPr id="35" name="Text 3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2360</Words>
  <Application>Microsoft Macintosh PowerPoint</Application>
  <PresentationFormat>Widescreen</PresentationFormat>
  <Paragraphs>180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Industry News Roundup</dc:title>
  <dc:subject>PptxGenJS Presentation</dc:subject>
  <dc:creator>Bola</dc:creator>
  <cp:lastModifiedBy>Bolaji BALOGOUN</cp:lastModifiedBy>
  <cp:revision>6</cp:revision>
  <dcterms:created xsi:type="dcterms:W3CDTF">2026-07-04T04:16:32Z</dcterms:created>
  <dcterms:modified xsi:type="dcterms:W3CDTF">2026-07-04T18:50:01Z</dcterms:modified>
</cp:coreProperties>
</file>